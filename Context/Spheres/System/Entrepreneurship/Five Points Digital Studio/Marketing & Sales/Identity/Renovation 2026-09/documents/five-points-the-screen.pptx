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0F10"/>
          </a:solidFill>
          <a:ln/>
        </p:spPr>
      </p:sp>
      <p:pic>
        <p:nvPicPr>
          <p:cNvPr id="3" name="Image 0" descr="f-hero.png">    </p:cNvPr>
          <p:cNvPicPr>
            <a:picLocks noChangeAspect="1"/>
          </p:cNvPicPr>
          <p:nvPr/>
        </p:nvPicPr>
        <p:blipFill>
          <a:blip r:embed="rId1"/>
          <a:stretch>
            <a:fillRect/>
          </a:stretch>
        </p:blipFill>
        <p:spPr>
          <a:xfrm>
            <a:off x="7025335" y="0"/>
            <a:ext cx="5166360" cy="6858000"/>
          </a:xfrm>
          <a:prstGeom prst="rect">
            <a:avLst/>
          </a:prstGeom>
        </p:spPr>
      </p:pic>
      <p:sp>
        <p:nvSpPr>
          <p:cNvPr id="4" name="Text 1"/>
          <p:cNvSpPr txBox="1"/>
          <p:nvPr/>
        </p:nvSpPr>
        <p:spPr>
          <a:xfrm>
            <a:off x="508406" y="1051560"/>
            <a:ext cx="5486400" cy="201168"/>
          </a:xfrm>
          <a:prstGeom prst="rect">
            <a:avLst/>
          </a:prstGeom>
          <a:noFill/>
          <a:ln/>
        </p:spPr>
        <p:txBody>
          <a:bodyPr wrap="square" lIns="0" tIns="0" rIns="0" bIns="0" rtlCol="0" anchor="t"/>
          <a:lstStyle/>
          <a:p>
            <a:pPr indent="0" marL="0">
              <a:buNone/>
            </a:pPr>
            <a:r>
              <a:rPr lang="en-US" sz="900" spc="180" kern="0" dirty="0">
                <a:solidFill>
                  <a:srgbClr val="7A7264"/>
                </a:solidFill>
                <a:latin typeface="Manrope" pitchFamily="34" charset="0"/>
                <a:ea typeface="Manrope" pitchFamily="34" charset="-122"/>
                <a:cs typeface="Manrope" pitchFamily="34" charset="-120"/>
              </a:rPr>
              <a:t>A TEST  ·  NOT A RULING</a:t>
            </a:r>
            <a:endParaRPr lang="en-US" sz="900" dirty="0"/>
          </a:p>
        </p:txBody>
      </p:sp>
      <p:sp>
        <p:nvSpPr>
          <p:cNvPr id="5" name="Text 2"/>
          <p:cNvSpPr txBox="1"/>
          <p:nvPr/>
        </p:nvSpPr>
        <p:spPr>
          <a:xfrm>
            <a:off x="508406" y="1481328"/>
            <a:ext cx="5669280" cy="2194560"/>
          </a:xfrm>
          <a:prstGeom prst="rect">
            <a:avLst/>
          </a:prstGeom>
          <a:noFill/>
          <a:ln/>
        </p:spPr>
        <p:txBody>
          <a:bodyPr wrap="square" lIns="0" tIns="0" rIns="0" bIns="0" rtlCol="0" anchor="t"/>
          <a:lstStyle/>
          <a:p>
            <a:pPr indent="0" marL="0">
              <a:lnSpc>
                <a:spcPct val="112000"/>
              </a:lnSpc>
              <a:buNone/>
            </a:pPr>
            <a:r>
              <a:rPr lang="en-US" sz="4600" dirty="0">
                <a:solidFill>
                  <a:srgbClr val="EAE0C8"/>
                </a:solidFill>
                <a:latin typeface="Bookmania" pitchFamily="34" charset="0"/>
                <a:ea typeface="Bookmania" pitchFamily="34" charset="-122"/>
                <a:cs typeface="Bookmania" pitchFamily="34" charset="-120"/>
              </a:rPr>
              <a:t>The dot is</a:t>
            </a:r>
            <a:endParaRPr lang="en-US" sz="4600" dirty="0"/>
          </a:p>
          <a:p>
            <a:pPr indent="0" marL="0">
              <a:lnSpc>
                <a:spcPct val="112000"/>
              </a:lnSpc>
              <a:buNone/>
            </a:pPr>
            <a:r>
              <a:rPr lang="en-US" sz="4600" dirty="0">
                <a:solidFill>
                  <a:srgbClr val="EAE0C8"/>
                </a:solidFill>
                <a:latin typeface="Bookmania" pitchFamily="34" charset="0"/>
                <a:ea typeface="Bookmania" pitchFamily="34" charset="-122"/>
                <a:cs typeface="Bookmania" pitchFamily="34" charset="-120"/>
              </a:rPr>
              <a:t>the mark.</a:t>
            </a:r>
            <a:endParaRPr lang="en-US" sz="4600" dirty="0"/>
          </a:p>
        </p:txBody>
      </p:sp>
      <p:sp>
        <p:nvSpPr>
          <p:cNvPr id="6" name="Shape 3"/>
          <p:cNvSpPr/>
          <p:nvPr/>
        </p:nvSpPr>
        <p:spPr>
          <a:xfrm>
            <a:off x="508406" y="3977640"/>
            <a:ext cx="2926080" cy="0"/>
          </a:xfrm>
          <a:prstGeom prst="line">
            <a:avLst/>
          </a:prstGeom>
          <a:noFill/>
          <a:ln w="9525">
            <a:solidFill>
              <a:srgbClr val="3A362F"/>
            </a:solidFill>
            <a:prstDash val="solid"/>
          </a:ln>
        </p:spPr>
      </p:sp>
      <p:sp>
        <p:nvSpPr>
          <p:cNvPr id="7" name="Text 4"/>
          <p:cNvSpPr txBox="1"/>
          <p:nvPr/>
        </p:nvSpPr>
        <p:spPr>
          <a:xfrm>
            <a:off x="508406" y="4224528"/>
            <a:ext cx="5669280" cy="1188720"/>
          </a:xfrm>
          <a:prstGeom prst="rect">
            <a:avLst/>
          </a:prstGeom>
          <a:noFill/>
          <a:ln/>
        </p:spPr>
        <p:txBody>
          <a:bodyPr wrap="square" lIns="0" tIns="0" rIns="0" bIns="0" rtlCol="0" anchor="t"/>
          <a:lstStyle/>
          <a:p>
            <a:pPr indent="0" marL="0">
              <a:lnSpc>
                <a:spcPct val="162000"/>
              </a:lnSpc>
              <a:buNone/>
            </a:pPr>
            <a:r>
              <a:rPr lang="en-US" sz="950" dirty="0">
                <a:solidFill>
                  <a:srgbClr val="9A9284"/>
                </a:solidFill>
                <a:latin typeface="Manrope" pitchFamily="34" charset="0"/>
                <a:ea typeface="Manrope" pitchFamily="34" charset="-122"/>
                <a:cs typeface="Manrope" pitchFamily="34" charset="-120"/>
              </a:rPr>
              <a:t>A halftone reproduces tone by varying the area of a dot. This screen varies the area of the Quintessence instead. Every dot in the image is the rounded pentagon core, or the whole rosette where the light allows it. There is not a circle anywhere in the picture.</a:t>
            </a:r>
            <a:endParaRPr lang="en-US" sz="950" dirty="0"/>
          </a:p>
        </p:txBody>
      </p:sp>
      <p:sp>
        <p:nvSpPr>
          <p:cNvPr id="8" name="Text 5"/>
          <p:cNvSpPr txBox="1"/>
          <p:nvPr/>
        </p:nvSpPr>
        <p:spPr>
          <a:xfrm>
            <a:off x="508406" y="5943600"/>
            <a:ext cx="4572000" cy="365760"/>
          </a:xfrm>
          <a:prstGeom prst="rect">
            <a:avLst/>
          </a:prstGeom>
          <a:noFill/>
          <a:ln/>
        </p:spPr>
        <p:txBody>
          <a:bodyPr wrap="square" lIns="0" tIns="0" rIns="0" bIns="0" rtlCol="0" anchor="t"/>
          <a:lstStyle/>
          <a:p>
            <a:pPr indent="0" marL="0">
              <a:lnSpc>
                <a:spcPct val="162000"/>
              </a:lnSpc>
              <a:buNone/>
            </a:pPr>
            <a:r>
              <a:rPr lang="en-US" sz="800" dirty="0">
                <a:solidFill>
                  <a:srgbClr val="EAE0C8"/>
                </a:solidFill>
                <a:latin typeface="Manrope" pitchFamily="34" charset="0"/>
                <a:ea typeface="Manrope" pitchFamily="34" charset="-122"/>
                <a:cs typeface="Manrope" pitchFamily="34" charset="-120"/>
              </a:rPr>
              <a:t>Photography rendered in the brand, at every scale.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F8F8F8"/>
          </a:solidFill>
          <a:ln/>
        </p:spPr>
      </p:sp>
      <p:sp>
        <p:nvSpPr>
          <p:cNvPr id="3" name="Shape 1"/>
          <p:cNvSpPr/>
          <p:nvPr/>
        </p:nvSpPr>
        <p:spPr>
          <a:xfrm>
            <a:off x="0" y="237744"/>
            <a:ext cx="12191695" cy="0"/>
          </a:xfrm>
          <a:prstGeom prst="line">
            <a:avLst/>
          </a:prstGeom>
          <a:noFill/>
          <a:ln w="9525">
            <a:solidFill>
              <a:srgbClr val="0F0F10"/>
            </a:solidFill>
            <a:prstDash val="solid"/>
          </a:ln>
        </p:spPr>
      </p:sp>
      <p:sp>
        <p:nvSpPr>
          <p:cNvPr id="4" name="Text 2"/>
          <p:cNvSpPr txBox="1"/>
          <p:nvPr/>
        </p:nvSpPr>
        <p:spPr>
          <a:xfrm>
            <a:off x="508406" y="50292"/>
            <a:ext cx="292608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Five Points Digital Studio</a:t>
            </a:r>
            <a:endParaRPr lang="en-US" sz="750" dirty="0"/>
          </a:p>
        </p:txBody>
      </p:sp>
      <p:sp>
        <p:nvSpPr>
          <p:cNvPr id="5" name="Text 3"/>
          <p:cNvSpPr txBox="1"/>
          <p:nvPr/>
        </p:nvSpPr>
        <p:spPr>
          <a:xfrm>
            <a:off x="4364431" y="50292"/>
            <a:ext cx="329184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The screen</a:t>
            </a:r>
            <a:endParaRPr lang="en-US" sz="750" dirty="0"/>
          </a:p>
        </p:txBody>
      </p:sp>
      <p:sp>
        <p:nvSpPr>
          <p:cNvPr id="6" name="Text 4"/>
          <p:cNvSpPr txBox="1"/>
          <p:nvPr/>
        </p:nvSpPr>
        <p:spPr>
          <a:xfrm>
            <a:off x="8220456" y="50292"/>
            <a:ext cx="182880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2026</a:t>
            </a:r>
            <a:endParaRPr lang="en-US" sz="750" dirty="0"/>
          </a:p>
        </p:txBody>
      </p:sp>
      <p:sp>
        <p:nvSpPr>
          <p:cNvPr id="7" name="Text 5"/>
          <p:cNvSpPr txBox="1"/>
          <p:nvPr/>
        </p:nvSpPr>
        <p:spPr>
          <a:xfrm>
            <a:off x="10415016" y="50292"/>
            <a:ext cx="1280160" cy="146304"/>
          </a:xfrm>
          <a:prstGeom prst="rect">
            <a:avLst/>
          </a:prstGeom>
          <a:noFill/>
          <a:ln/>
        </p:spPr>
        <p:txBody>
          <a:bodyPr wrap="square" lIns="0" tIns="0" rIns="0" bIns="0" rtlCol="0" anchor="ctr"/>
          <a:lstStyle/>
          <a:p>
            <a:pPr algn="r" indent="0" marL="0">
              <a:buNone/>
            </a:pPr>
            <a:r>
              <a:rPr lang="en-US" sz="750" dirty="0">
                <a:solidFill>
                  <a:srgbClr val="0F0F10"/>
                </a:solidFill>
                <a:latin typeface="Manrope" pitchFamily="34" charset="0"/>
                <a:ea typeface="Manrope" pitchFamily="34" charset="-122"/>
                <a:cs typeface="Manrope" pitchFamily="34" charset="-120"/>
              </a:rPr>
              <a:t>pg 2</a:t>
            </a:r>
            <a:endParaRPr lang="en-US" sz="750" dirty="0"/>
          </a:p>
        </p:txBody>
      </p:sp>
      <p:sp>
        <p:nvSpPr>
          <p:cNvPr id="8" name="Text 6"/>
          <p:cNvSpPr txBox="1"/>
          <p:nvPr/>
        </p:nvSpPr>
        <p:spPr>
          <a:xfrm>
            <a:off x="508406" y="731520"/>
            <a:ext cx="4206240" cy="822960"/>
          </a:xfrm>
          <a:prstGeom prst="rect">
            <a:avLst/>
          </a:prstGeom>
          <a:noFill/>
          <a:ln/>
        </p:spPr>
        <p:txBody>
          <a:bodyPr wrap="square" lIns="0" tIns="0" rIns="0" bIns="0" rtlCol="0" anchor="t"/>
          <a:lstStyle/>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How it works</a:t>
            </a:r>
            <a:endParaRPr lang="en-US" sz="4300" dirty="0"/>
          </a:p>
        </p:txBody>
      </p:sp>
      <p:sp>
        <p:nvSpPr>
          <p:cNvPr id="9" name="Text 7"/>
          <p:cNvSpPr txBox="1"/>
          <p:nvPr/>
        </p:nvSpPr>
        <p:spPr>
          <a:xfrm>
            <a:off x="4364431" y="804672"/>
            <a:ext cx="7330745" cy="914400"/>
          </a:xfrm>
          <a:prstGeom prst="rect">
            <a:avLst/>
          </a:prstGeom>
          <a:noFill/>
          <a:ln/>
        </p:spPr>
        <p:txBody>
          <a:bodyPr wrap="square" lIns="0" tIns="0" rIns="0" bIns="0" rtlCol="0" anchor="t"/>
          <a:lstStyle/>
          <a:p>
            <a:pPr indent="0" marL="0">
              <a:lnSpc>
                <a:spcPct val="130000"/>
              </a:lnSpc>
              <a:buNone/>
            </a:pPr>
            <a:r>
              <a:rPr lang="en-US" sz="1250" dirty="0">
                <a:solidFill>
                  <a:srgbClr val="0F0F10"/>
                </a:solidFill>
                <a:latin typeface="Bookmania" pitchFamily="34" charset="0"/>
                <a:ea typeface="Bookmania" pitchFamily="34" charset="-122"/>
                <a:cs typeface="Bookmania" pitchFamily="34" charset="-120"/>
              </a:rPr>
              <a:t>Four decisions make the difference between a brand-shaped novelty and a screen that actually reproduces a photograph.</a:t>
            </a:r>
            <a:endParaRPr lang="en-US" sz="1250" dirty="0"/>
          </a:p>
        </p:txBody>
      </p:sp>
      <p:sp>
        <p:nvSpPr>
          <p:cNvPr id="10" name="Shape 8"/>
          <p:cNvSpPr/>
          <p:nvPr/>
        </p:nvSpPr>
        <p:spPr>
          <a:xfrm>
            <a:off x="508406" y="2157984"/>
            <a:ext cx="2577236" cy="0"/>
          </a:xfrm>
          <a:prstGeom prst="line">
            <a:avLst/>
          </a:prstGeom>
          <a:noFill/>
          <a:ln w="9525">
            <a:solidFill>
              <a:srgbClr val="BDB4A2"/>
            </a:solidFill>
            <a:prstDash val="solid"/>
          </a:ln>
        </p:spPr>
      </p:sp>
      <p:sp>
        <p:nvSpPr>
          <p:cNvPr id="11" name="Text 9"/>
          <p:cNvSpPr txBox="1"/>
          <p:nvPr/>
        </p:nvSpPr>
        <p:spPr>
          <a:xfrm>
            <a:off x="508406" y="2313432"/>
            <a:ext cx="2577236" cy="219456"/>
          </a:xfrm>
          <a:prstGeom prst="rect">
            <a:avLst/>
          </a:prstGeom>
          <a:noFill/>
          <a:ln/>
        </p:spPr>
        <p:txBody>
          <a:bodyPr wrap="square" lIns="0" tIns="0" rIns="0" bIns="0" rtlCol="0" anchor="t"/>
          <a:lstStyle/>
          <a:p>
            <a:pPr indent="0" marL="0">
              <a:buNone/>
            </a:pPr>
            <a:r>
              <a:rPr lang="en-US" sz="700" spc="140" kern="0" dirty="0">
                <a:solidFill>
                  <a:srgbClr val="7A7264"/>
                </a:solidFill>
                <a:latin typeface="Manrope" pitchFamily="34" charset="0"/>
                <a:ea typeface="Manrope" pitchFamily="34" charset="-122"/>
                <a:cs typeface="Manrope" pitchFamily="34" charset="-120"/>
              </a:rPr>
              <a:t>01</a:t>
            </a:r>
            <a:endParaRPr lang="en-US" sz="700" dirty="0"/>
          </a:p>
        </p:txBody>
      </p:sp>
      <p:sp>
        <p:nvSpPr>
          <p:cNvPr id="12" name="Text 10"/>
          <p:cNvSpPr txBox="1"/>
          <p:nvPr/>
        </p:nvSpPr>
        <p:spPr>
          <a:xfrm>
            <a:off x="508406" y="2606040"/>
            <a:ext cx="2577236" cy="548640"/>
          </a:xfrm>
          <a:prstGeom prst="rect">
            <a:avLst/>
          </a:prstGeom>
          <a:noFill/>
          <a:ln/>
        </p:spPr>
        <p:txBody>
          <a:bodyPr wrap="square" lIns="0" tIns="0" rIns="0" bIns="0" rtlCol="0" anchor="t"/>
          <a:lstStyle/>
          <a:p>
            <a:pPr indent="0" marL="0">
              <a:lnSpc>
                <a:spcPct val="112000"/>
              </a:lnSpc>
              <a:buNone/>
            </a:pPr>
            <a:r>
              <a:rPr lang="en-US" sz="1700" dirty="0">
                <a:solidFill>
                  <a:srgbClr val="0F0F10"/>
                </a:solidFill>
                <a:latin typeface="Bookmania" pitchFamily="34" charset="0"/>
                <a:ea typeface="Bookmania" pitchFamily="34" charset="-122"/>
                <a:cs typeface="Bookmania" pitchFamily="34" charset="-120"/>
              </a:rPr>
              <a:t>No circles</a:t>
            </a:r>
            <a:endParaRPr lang="en-US" sz="1700" dirty="0"/>
          </a:p>
        </p:txBody>
      </p:sp>
      <p:sp>
        <p:nvSpPr>
          <p:cNvPr id="13" name="Text 11"/>
          <p:cNvSpPr txBox="1"/>
          <p:nvPr/>
        </p:nvSpPr>
        <p:spPr>
          <a:xfrm>
            <a:off x="508406" y="3282696"/>
            <a:ext cx="2577236" cy="1371600"/>
          </a:xfrm>
          <a:prstGeom prst="rect">
            <a:avLst/>
          </a:prstGeom>
          <a:noFill/>
          <a:ln/>
        </p:spPr>
        <p:txBody>
          <a:bodyPr wrap="square" lIns="0" tIns="0" rIns="0" bIns="0" rtlCol="0" anchor="t"/>
          <a:lstStyle/>
          <a:p>
            <a:pPr indent="0" marL="0">
              <a:lnSpc>
                <a:spcPct val="150000"/>
              </a:lnSpc>
              <a:buNone/>
            </a:pPr>
            <a:r>
              <a:rPr lang="en-US" sz="800" dirty="0">
                <a:solidFill>
                  <a:srgbClr val="1C1A17"/>
                </a:solidFill>
                <a:latin typeface="Manrope" pitchFamily="34" charset="0"/>
                <a:ea typeface="Manrope" pitchFamily="34" charset="-122"/>
                <a:cs typeface="Manrope" pitchFamily="34" charset="-120"/>
              </a:rPr>
              <a:t>Every dot is the pentagon core or the whole rosette. The mark carries the image rather than sitting beside it.</a:t>
            </a:r>
            <a:endParaRPr lang="en-US" sz="800" dirty="0"/>
          </a:p>
        </p:txBody>
      </p:sp>
      <p:sp>
        <p:nvSpPr>
          <p:cNvPr id="14" name="Shape 12"/>
          <p:cNvSpPr/>
          <p:nvPr/>
        </p:nvSpPr>
        <p:spPr>
          <a:xfrm>
            <a:off x="3378251" y="2157984"/>
            <a:ext cx="2577236" cy="0"/>
          </a:xfrm>
          <a:prstGeom prst="line">
            <a:avLst/>
          </a:prstGeom>
          <a:noFill/>
          <a:ln w="9525">
            <a:solidFill>
              <a:srgbClr val="BDB4A2"/>
            </a:solidFill>
            <a:prstDash val="solid"/>
          </a:ln>
        </p:spPr>
      </p:sp>
      <p:sp>
        <p:nvSpPr>
          <p:cNvPr id="15" name="Text 13"/>
          <p:cNvSpPr txBox="1"/>
          <p:nvPr/>
        </p:nvSpPr>
        <p:spPr>
          <a:xfrm>
            <a:off x="3378251" y="2313432"/>
            <a:ext cx="2577236" cy="219456"/>
          </a:xfrm>
          <a:prstGeom prst="rect">
            <a:avLst/>
          </a:prstGeom>
          <a:noFill/>
          <a:ln/>
        </p:spPr>
        <p:txBody>
          <a:bodyPr wrap="square" lIns="0" tIns="0" rIns="0" bIns="0" rtlCol="0" anchor="t"/>
          <a:lstStyle/>
          <a:p>
            <a:pPr indent="0" marL="0">
              <a:buNone/>
            </a:pPr>
            <a:r>
              <a:rPr lang="en-US" sz="700" spc="140" kern="0" dirty="0">
                <a:solidFill>
                  <a:srgbClr val="7A7264"/>
                </a:solidFill>
                <a:latin typeface="Manrope" pitchFamily="34" charset="0"/>
                <a:ea typeface="Manrope" pitchFamily="34" charset="-122"/>
                <a:cs typeface="Manrope" pitchFamily="34" charset="-120"/>
              </a:rPr>
              <a:t>02</a:t>
            </a:r>
            <a:endParaRPr lang="en-US" sz="700" dirty="0"/>
          </a:p>
        </p:txBody>
      </p:sp>
      <p:sp>
        <p:nvSpPr>
          <p:cNvPr id="16" name="Text 14"/>
          <p:cNvSpPr txBox="1"/>
          <p:nvPr/>
        </p:nvSpPr>
        <p:spPr>
          <a:xfrm>
            <a:off x="3378251" y="2606040"/>
            <a:ext cx="2577236" cy="548640"/>
          </a:xfrm>
          <a:prstGeom prst="rect">
            <a:avLst/>
          </a:prstGeom>
          <a:noFill/>
          <a:ln/>
        </p:spPr>
        <p:txBody>
          <a:bodyPr wrap="square" lIns="0" tIns="0" rIns="0" bIns="0" rtlCol="0" anchor="t"/>
          <a:lstStyle/>
          <a:p>
            <a:pPr indent="0" marL="0">
              <a:lnSpc>
                <a:spcPct val="112000"/>
              </a:lnSpc>
              <a:buNone/>
            </a:pPr>
            <a:r>
              <a:rPr lang="en-US" sz="1700" dirty="0">
                <a:solidFill>
                  <a:srgbClr val="0F0F10"/>
                </a:solidFill>
                <a:latin typeface="Bookmania" pitchFamily="34" charset="0"/>
                <a:ea typeface="Bookmania" pitchFamily="34" charset="-122"/>
                <a:cs typeface="Bookmania" pitchFamily="34" charset="-120"/>
              </a:rPr>
              <a:t>Area, not width</a:t>
            </a:r>
            <a:endParaRPr lang="en-US" sz="1700" dirty="0"/>
          </a:p>
        </p:txBody>
      </p:sp>
      <p:sp>
        <p:nvSpPr>
          <p:cNvPr id="17" name="Text 15"/>
          <p:cNvSpPr txBox="1"/>
          <p:nvPr/>
        </p:nvSpPr>
        <p:spPr>
          <a:xfrm>
            <a:off x="3378251" y="3282696"/>
            <a:ext cx="2577236" cy="1371600"/>
          </a:xfrm>
          <a:prstGeom prst="rect">
            <a:avLst/>
          </a:prstGeom>
          <a:noFill/>
          <a:ln/>
        </p:spPr>
        <p:txBody>
          <a:bodyPr wrap="square" lIns="0" tIns="0" rIns="0" bIns="0" rtlCol="0" anchor="t"/>
          <a:lstStyle/>
          <a:p>
            <a:pPr indent="0" marL="0">
              <a:lnSpc>
                <a:spcPct val="150000"/>
              </a:lnSpc>
              <a:buNone/>
            </a:pPr>
            <a:r>
              <a:rPr lang="en-US" sz="800" dirty="0">
                <a:solidFill>
                  <a:srgbClr val="1C1A17"/>
                </a:solidFill>
                <a:latin typeface="Manrope" pitchFamily="34" charset="0"/>
                <a:ea typeface="Manrope" pitchFamily="34" charset="-122"/>
                <a:cs typeface="Manrope" pitchFamily="34" charset="-120"/>
              </a:rPr>
              <a:t>The rosette inks 19% of its own circle. The core inks 50%. Both are sized from measured ink, so the screen can change shape mid-image without a step in tone.</a:t>
            </a:r>
            <a:endParaRPr lang="en-US" sz="800" dirty="0"/>
          </a:p>
        </p:txBody>
      </p:sp>
      <p:sp>
        <p:nvSpPr>
          <p:cNvPr id="18" name="Shape 16"/>
          <p:cNvSpPr/>
          <p:nvPr/>
        </p:nvSpPr>
        <p:spPr>
          <a:xfrm>
            <a:off x="6248095" y="2157984"/>
            <a:ext cx="2577236" cy="0"/>
          </a:xfrm>
          <a:prstGeom prst="line">
            <a:avLst/>
          </a:prstGeom>
          <a:noFill/>
          <a:ln w="9525">
            <a:solidFill>
              <a:srgbClr val="BDB4A2"/>
            </a:solidFill>
            <a:prstDash val="solid"/>
          </a:ln>
        </p:spPr>
      </p:sp>
      <p:sp>
        <p:nvSpPr>
          <p:cNvPr id="19" name="Text 17"/>
          <p:cNvSpPr txBox="1"/>
          <p:nvPr/>
        </p:nvSpPr>
        <p:spPr>
          <a:xfrm>
            <a:off x="6248095" y="2313432"/>
            <a:ext cx="2577236" cy="219456"/>
          </a:xfrm>
          <a:prstGeom prst="rect">
            <a:avLst/>
          </a:prstGeom>
          <a:noFill/>
          <a:ln/>
        </p:spPr>
        <p:txBody>
          <a:bodyPr wrap="square" lIns="0" tIns="0" rIns="0" bIns="0" rtlCol="0" anchor="t"/>
          <a:lstStyle/>
          <a:p>
            <a:pPr indent="0" marL="0">
              <a:buNone/>
            </a:pPr>
            <a:r>
              <a:rPr lang="en-US" sz="700" spc="140" kern="0" dirty="0">
                <a:solidFill>
                  <a:srgbClr val="7A7264"/>
                </a:solidFill>
                <a:latin typeface="Manrope" pitchFamily="34" charset="0"/>
                <a:ea typeface="Manrope" pitchFamily="34" charset="-122"/>
                <a:cs typeface="Manrope" pitchFamily="34" charset="-120"/>
              </a:rPr>
              <a:t>03</a:t>
            </a:r>
            <a:endParaRPr lang="en-US" sz="700" dirty="0"/>
          </a:p>
        </p:txBody>
      </p:sp>
      <p:sp>
        <p:nvSpPr>
          <p:cNvPr id="20" name="Text 18"/>
          <p:cNvSpPr txBox="1"/>
          <p:nvPr/>
        </p:nvSpPr>
        <p:spPr>
          <a:xfrm>
            <a:off x="6248095" y="2606040"/>
            <a:ext cx="2577236" cy="548640"/>
          </a:xfrm>
          <a:prstGeom prst="rect">
            <a:avLst/>
          </a:prstGeom>
          <a:noFill/>
          <a:ln/>
        </p:spPr>
        <p:txBody>
          <a:bodyPr wrap="square" lIns="0" tIns="0" rIns="0" bIns="0" rtlCol="0" anchor="t"/>
          <a:lstStyle/>
          <a:p>
            <a:pPr indent="0" marL="0">
              <a:lnSpc>
                <a:spcPct val="112000"/>
              </a:lnSpc>
              <a:buNone/>
            </a:pPr>
            <a:r>
              <a:rPr lang="en-US" sz="1700" dirty="0">
                <a:solidFill>
                  <a:srgbClr val="0F0F10"/>
                </a:solidFill>
                <a:latin typeface="Bookmania" pitchFamily="34" charset="0"/>
                <a:ea typeface="Bookmania" pitchFamily="34" charset="-122"/>
                <a:cs typeface="Bookmania" pitchFamily="34" charset="-120"/>
              </a:rPr>
              <a:t>The mark blooms</a:t>
            </a:r>
            <a:endParaRPr lang="en-US" sz="1700" dirty="0"/>
          </a:p>
          <a:p>
            <a:pPr indent="0" marL="0">
              <a:lnSpc>
                <a:spcPct val="112000"/>
              </a:lnSpc>
              <a:buNone/>
            </a:pPr>
            <a:r>
              <a:rPr lang="en-US" sz="1700" dirty="0">
                <a:solidFill>
                  <a:srgbClr val="0F0F10"/>
                </a:solidFill>
                <a:latin typeface="Bookmania" pitchFamily="34" charset="0"/>
                <a:ea typeface="Bookmania" pitchFamily="34" charset="-122"/>
                <a:cs typeface="Bookmania" pitchFamily="34" charset="-120"/>
              </a:rPr>
              <a:t>in the light</a:t>
            </a:r>
            <a:endParaRPr lang="en-US" sz="1700" dirty="0"/>
          </a:p>
        </p:txBody>
      </p:sp>
      <p:sp>
        <p:nvSpPr>
          <p:cNvPr id="21" name="Text 19"/>
          <p:cNvSpPr txBox="1"/>
          <p:nvPr/>
        </p:nvSpPr>
        <p:spPr>
          <a:xfrm>
            <a:off x="6248095" y="3282696"/>
            <a:ext cx="2577236" cy="1371600"/>
          </a:xfrm>
          <a:prstGeom prst="rect">
            <a:avLst/>
          </a:prstGeom>
          <a:noFill/>
          <a:ln/>
        </p:spPr>
        <p:txBody>
          <a:bodyPr wrap="square" lIns="0" tIns="0" rIns="0" bIns="0" rtlCol="0" anchor="t"/>
          <a:lstStyle/>
          <a:p>
            <a:pPr indent="0" marL="0">
              <a:lnSpc>
                <a:spcPct val="150000"/>
              </a:lnSpc>
              <a:buNone/>
            </a:pPr>
            <a:r>
              <a:rPr lang="en-US" sz="800" dirty="0">
                <a:solidFill>
                  <a:srgbClr val="1C1A17"/>
                </a:solidFill>
                <a:latin typeface="Manrope" pitchFamily="34" charset="0"/>
                <a:ea typeface="Manrope" pitchFamily="34" charset="-122"/>
                <a:cs typeface="Manrope" pitchFamily="34" charset="-120"/>
              </a:rPr>
              <a:t>The rosette takes the highlights, where a dot has room to open. The core takes everything darker. Tested against the reverse, below.</a:t>
            </a:r>
            <a:endParaRPr lang="en-US" sz="800" dirty="0"/>
          </a:p>
        </p:txBody>
      </p:sp>
      <p:sp>
        <p:nvSpPr>
          <p:cNvPr id="22" name="Shape 20"/>
          <p:cNvSpPr/>
          <p:nvPr/>
        </p:nvSpPr>
        <p:spPr>
          <a:xfrm>
            <a:off x="9117940" y="2157984"/>
            <a:ext cx="2577236" cy="0"/>
          </a:xfrm>
          <a:prstGeom prst="line">
            <a:avLst/>
          </a:prstGeom>
          <a:noFill/>
          <a:ln w="9525">
            <a:solidFill>
              <a:srgbClr val="BDB4A2"/>
            </a:solidFill>
            <a:prstDash val="solid"/>
          </a:ln>
        </p:spPr>
      </p:sp>
      <p:sp>
        <p:nvSpPr>
          <p:cNvPr id="23" name="Text 21"/>
          <p:cNvSpPr txBox="1"/>
          <p:nvPr/>
        </p:nvSpPr>
        <p:spPr>
          <a:xfrm>
            <a:off x="9117940" y="2313432"/>
            <a:ext cx="2577236" cy="219456"/>
          </a:xfrm>
          <a:prstGeom prst="rect">
            <a:avLst/>
          </a:prstGeom>
          <a:noFill/>
          <a:ln/>
        </p:spPr>
        <p:txBody>
          <a:bodyPr wrap="square" lIns="0" tIns="0" rIns="0" bIns="0" rtlCol="0" anchor="t"/>
          <a:lstStyle/>
          <a:p>
            <a:pPr indent="0" marL="0">
              <a:buNone/>
            </a:pPr>
            <a:r>
              <a:rPr lang="en-US" sz="700" spc="140" kern="0" dirty="0">
                <a:solidFill>
                  <a:srgbClr val="7A7264"/>
                </a:solidFill>
                <a:latin typeface="Manrope" pitchFamily="34" charset="0"/>
                <a:ea typeface="Manrope" pitchFamily="34" charset="-122"/>
                <a:cs typeface="Manrope" pitchFamily="34" charset="-120"/>
              </a:rPr>
              <a:t>04</a:t>
            </a:r>
            <a:endParaRPr lang="en-US" sz="700" dirty="0"/>
          </a:p>
        </p:txBody>
      </p:sp>
      <p:sp>
        <p:nvSpPr>
          <p:cNvPr id="24" name="Text 22"/>
          <p:cNvSpPr txBox="1"/>
          <p:nvPr/>
        </p:nvSpPr>
        <p:spPr>
          <a:xfrm>
            <a:off x="9117940" y="2606040"/>
            <a:ext cx="2577236" cy="548640"/>
          </a:xfrm>
          <a:prstGeom prst="rect">
            <a:avLst/>
          </a:prstGeom>
          <a:noFill/>
          <a:ln/>
        </p:spPr>
        <p:txBody>
          <a:bodyPr wrap="square" lIns="0" tIns="0" rIns="0" bIns="0" rtlCol="0" anchor="t"/>
          <a:lstStyle/>
          <a:p>
            <a:pPr indent="0" marL="0">
              <a:lnSpc>
                <a:spcPct val="112000"/>
              </a:lnSpc>
              <a:buNone/>
            </a:pPr>
            <a:r>
              <a:rPr lang="en-US" sz="1700" dirty="0">
                <a:solidFill>
                  <a:srgbClr val="0F0F10"/>
                </a:solidFill>
                <a:latin typeface="Bookmania" pitchFamily="34" charset="0"/>
                <a:ea typeface="Bookmania" pitchFamily="34" charset="-122"/>
                <a:cs typeface="Bookmania" pitchFamily="34" charset="-120"/>
              </a:rPr>
              <a:t>One ink, one ground</a:t>
            </a:r>
            <a:endParaRPr lang="en-US" sz="1700" dirty="0"/>
          </a:p>
        </p:txBody>
      </p:sp>
      <p:sp>
        <p:nvSpPr>
          <p:cNvPr id="25" name="Text 23"/>
          <p:cNvSpPr txBox="1"/>
          <p:nvPr/>
        </p:nvSpPr>
        <p:spPr>
          <a:xfrm>
            <a:off x="9117940" y="3282696"/>
            <a:ext cx="2577236" cy="1371600"/>
          </a:xfrm>
          <a:prstGeom prst="rect">
            <a:avLst/>
          </a:prstGeom>
          <a:noFill/>
          <a:ln/>
        </p:spPr>
        <p:txBody>
          <a:bodyPr wrap="square" lIns="0" tIns="0" rIns="0" bIns="0" rtlCol="0" anchor="t"/>
          <a:lstStyle/>
          <a:p>
            <a:pPr indent="0" marL="0">
              <a:lnSpc>
                <a:spcPct val="150000"/>
              </a:lnSpc>
              <a:buNone/>
            </a:pPr>
            <a:r>
              <a:rPr lang="en-US" sz="800" dirty="0">
                <a:solidFill>
                  <a:srgbClr val="1C1A17"/>
                </a:solidFill>
                <a:latin typeface="Manrope" pitchFamily="34" charset="0"/>
                <a:ea typeface="Manrope" pitchFamily="34" charset="-122"/>
                <a:cs typeface="Manrope" pitchFamily="34" charset="-120"/>
              </a:rPr>
              <a:t>A screen is a single ink. Bone on ink, ink on paper, or a voice on paper. Never two inks in one image.</a:t>
            </a:r>
            <a:endParaRPr lang="en-US" sz="800" dirty="0"/>
          </a:p>
        </p:txBody>
      </p:sp>
      <p:pic>
        <p:nvPicPr>
          <p:cNvPr id="26" name="Image 0" descr="g-ladder.png">    </p:cNvPr>
          <p:cNvPicPr>
            <a:picLocks noChangeAspect="1"/>
          </p:cNvPicPr>
          <p:nvPr/>
        </p:nvPicPr>
        <p:blipFill>
          <a:blip r:embed="rId1"/>
          <a:stretch>
            <a:fillRect/>
          </a:stretch>
        </p:blipFill>
        <p:spPr>
          <a:xfrm>
            <a:off x="508406" y="4242816"/>
            <a:ext cx="6720840" cy="2441448"/>
          </a:xfrm>
          <a:prstGeom prst="rect">
            <a:avLst/>
          </a:prstGeom>
        </p:spPr>
      </p:pic>
      <p:sp>
        <p:nvSpPr>
          <p:cNvPr id="27" name="Text 24"/>
          <p:cNvSpPr txBox="1"/>
          <p:nvPr/>
        </p:nvSpPr>
        <p:spPr>
          <a:xfrm>
            <a:off x="7640726" y="4315968"/>
            <a:ext cx="4054450" cy="1645920"/>
          </a:xfrm>
          <a:prstGeom prst="rect">
            <a:avLst/>
          </a:prstGeom>
          <a:noFill/>
          <a:ln/>
        </p:spPr>
        <p:txBody>
          <a:bodyPr wrap="square" lIns="0" tIns="0" rIns="0" bIns="0" rtlCol="0" anchor="t"/>
          <a:lstStyle/>
          <a:p>
            <a:pPr indent="0" marL="0">
              <a:lnSpc>
                <a:spcPct val="150000"/>
              </a:lnSpc>
              <a:buNone/>
            </a:pPr>
            <a:r>
              <a:rPr lang="en-US" sz="800" dirty="0">
                <a:solidFill>
                  <a:srgbClr val="1C1A17"/>
                </a:solidFill>
                <a:latin typeface="Manrope" pitchFamily="34" charset="0"/>
                <a:ea typeface="Manrope" pitchFamily="34" charset="-122"/>
                <a:cs typeface="Manrope" pitchFamily="34" charset="-120"/>
              </a:rPr>
              <a:t>The test that settled it. Put the whole mark in the shadows and the rosettes overlap into noise; the face stops reading. Put it everywhere and tone flattens. The mark belongs in the light.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F8F8F8"/>
          </a:solidFill>
          <a:ln/>
        </p:spPr>
      </p:sp>
      <p:sp>
        <p:nvSpPr>
          <p:cNvPr id="3" name="Shape 1"/>
          <p:cNvSpPr/>
          <p:nvPr/>
        </p:nvSpPr>
        <p:spPr>
          <a:xfrm>
            <a:off x="0" y="237744"/>
            <a:ext cx="12191695" cy="0"/>
          </a:xfrm>
          <a:prstGeom prst="line">
            <a:avLst/>
          </a:prstGeom>
          <a:noFill/>
          <a:ln w="9525">
            <a:solidFill>
              <a:srgbClr val="0F0F10"/>
            </a:solidFill>
            <a:prstDash val="solid"/>
          </a:ln>
        </p:spPr>
      </p:sp>
      <p:sp>
        <p:nvSpPr>
          <p:cNvPr id="4" name="Text 2"/>
          <p:cNvSpPr txBox="1"/>
          <p:nvPr/>
        </p:nvSpPr>
        <p:spPr>
          <a:xfrm>
            <a:off x="508406" y="50292"/>
            <a:ext cx="292608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Five Points Digital Studio</a:t>
            </a:r>
            <a:endParaRPr lang="en-US" sz="750" dirty="0"/>
          </a:p>
        </p:txBody>
      </p:sp>
      <p:sp>
        <p:nvSpPr>
          <p:cNvPr id="5" name="Text 3"/>
          <p:cNvSpPr txBox="1"/>
          <p:nvPr/>
        </p:nvSpPr>
        <p:spPr>
          <a:xfrm>
            <a:off x="4364431" y="50292"/>
            <a:ext cx="329184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The screen</a:t>
            </a:r>
            <a:endParaRPr lang="en-US" sz="750" dirty="0"/>
          </a:p>
        </p:txBody>
      </p:sp>
      <p:sp>
        <p:nvSpPr>
          <p:cNvPr id="6" name="Text 4"/>
          <p:cNvSpPr txBox="1"/>
          <p:nvPr/>
        </p:nvSpPr>
        <p:spPr>
          <a:xfrm>
            <a:off x="8220456" y="50292"/>
            <a:ext cx="182880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2026</a:t>
            </a:r>
            <a:endParaRPr lang="en-US" sz="750" dirty="0"/>
          </a:p>
        </p:txBody>
      </p:sp>
      <p:sp>
        <p:nvSpPr>
          <p:cNvPr id="7" name="Text 5"/>
          <p:cNvSpPr txBox="1"/>
          <p:nvPr/>
        </p:nvSpPr>
        <p:spPr>
          <a:xfrm>
            <a:off x="10415016" y="50292"/>
            <a:ext cx="1280160" cy="146304"/>
          </a:xfrm>
          <a:prstGeom prst="rect">
            <a:avLst/>
          </a:prstGeom>
          <a:noFill/>
          <a:ln/>
        </p:spPr>
        <p:txBody>
          <a:bodyPr wrap="square" lIns="0" tIns="0" rIns="0" bIns="0" rtlCol="0" anchor="ctr"/>
          <a:lstStyle/>
          <a:p>
            <a:pPr algn="r" indent="0" marL="0">
              <a:buNone/>
            </a:pPr>
            <a:r>
              <a:rPr lang="en-US" sz="750" dirty="0">
                <a:solidFill>
                  <a:srgbClr val="0F0F10"/>
                </a:solidFill>
                <a:latin typeface="Manrope" pitchFamily="34" charset="0"/>
                <a:ea typeface="Manrope" pitchFamily="34" charset="-122"/>
                <a:cs typeface="Manrope" pitchFamily="34" charset="-120"/>
              </a:rPr>
              <a:t>pg 3</a:t>
            </a:r>
            <a:endParaRPr lang="en-US" sz="750" dirty="0"/>
          </a:p>
        </p:txBody>
      </p:sp>
      <p:sp>
        <p:nvSpPr>
          <p:cNvPr id="8" name="Text 6"/>
          <p:cNvSpPr txBox="1"/>
          <p:nvPr/>
        </p:nvSpPr>
        <p:spPr>
          <a:xfrm>
            <a:off x="508406" y="731520"/>
            <a:ext cx="4206240" cy="822960"/>
          </a:xfrm>
          <a:prstGeom prst="rect">
            <a:avLst/>
          </a:prstGeom>
          <a:noFill/>
          <a:ln/>
        </p:spPr>
        <p:txBody>
          <a:bodyPr wrap="square" lIns="0" tIns="0" rIns="0" bIns="0" rtlCol="0" anchor="t"/>
          <a:lstStyle/>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The ruling</a:t>
            </a:r>
            <a:endParaRPr lang="en-US" sz="4300" dirty="0"/>
          </a:p>
        </p:txBody>
      </p:sp>
      <p:sp>
        <p:nvSpPr>
          <p:cNvPr id="9" name="Text 7"/>
          <p:cNvSpPr txBox="1"/>
          <p:nvPr/>
        </p:nvSpPr>
        <p:spPr>
          <a:xfrm>
            <a:off x="4364431" y="804672"/>
            <a:ext cx="7330745" cy="914400"/>
          </a:xfrm>
          <a:prstGeom prst="rect">
            <a:avLst/>
          </a:prstGeom>
          <a:noFill/>
          <a:ln/>
        </p:spPr>
        <p:txBody>
          <a:bodyPr wrap="square" lIns="0" tIns="0" rIns="0" bIns="0" rtlCol="0" anchor="t"/>
          <a:lstStyle/>
          <a:p>
            <a:pPr indent="0" marL="0">
              <a:lnSpc>
                <a:spcPct val="130000"/>
              </a:lnSpc>
              <a:buNone/>
            </a:pPr>
            <a:r>
              <a:rPr lang="en-US" sz="1250" dirty="0">
                <a:solidFill>
                  <a:srgbClr val="0F0F10"/>
                </a:solidFill>
                <a:latin typeface="Bookmania" pitchFamily="34" charset="0"/>
                <a:ea typeface="Bookmania" pitchFamily="34" charset="-122"/>
                <a:cs typeface="Bookmania" pitchFamily="34" charset="-120"/>
              </a:rPr>
              <a:t>Ruling is the one control that matters. Coarsen the screen and the mark becomes the subject. Fine it down and the photograph does.</a:t>
            </a:r>
            <a:endParaRPr lang="en-US" sz="1250" dirty="0"/>
          </a:p>
        </p:txBody>
      </p:sp>
      <p:pic>
        <p:nvPicPr>
          <p:cNvPr id="10" name="Image 0" descr="f-rulings.png">    </p:cNvPr>
          <p:cNvPicPr>
            <a:picLocks noChangeAspect="1"/>
          </p:cNvPicPr>
          <p:nvPr/>
        </p:nvPicPr>
        <p:blipFill>
          <a:blip r:embed="rId1"/>
          <a:stretch>
            <a:fillRect/>
          </a:stretch>
        </p:blipFill>
        <p:spPr>
          <a:xfrm>
            <a:off x="752551" y="1901952"/>
            <a:ext cx="10698480" cy="3853115"/>
          </a:xfrm>
          <a:prstGeom prst="rect">
            <a:avLst/>
          </a:prstGeom>
        </p:spPr>
      </p:pic>
      <p:sp>
        <p:nvSpPr>
          <p:cNvPr id="11" name="Text 8"/>
          <p:cNvSpPr txBox="1"/>
          <p:nvPr/>
        </p:nvSpPr>
        <p:spPr>
          <a:xfrm>
            <a:off x="508406" y="5956235"/>
            <a:ext cx="11186770" cy="731520"/>
          </a:xfrm>
          <a:prstGeom prst="rect">
            <a:avLst/>
          </a:prstGeom>
          <a:noFill/>
          <a:ln/>
        </p:spPr>
        <p:txBody>
          <a:bodyPr wrap="square" lIns="0" tIns="0" rIns="0" bIns="0" rtlCol="0" anchor="t"/>
          <a:lstStyle/>
          <a:p>
            <a:pPr indent="0" marL="0">
              <a:lnSpc>
                <a:spcPct val="162000"/>
              </a:lnSpc>
              <a:buNone/>
            </a:pPr>
            <a:r>
              <a:rPr lang="en-US" sz="950" dirty="0">
                <a:solidFill>
                  <a:srgbClr val="1C1A17"/>
                </a:solidFill>
                <a:latin typeface="Manrope" pitchFamily="34" charset="0"/>
                <a:ea typeface="Manrope" pitchFamily="34" charset="-122"/>
                <a:cs typeface="Manrope" pitchFamily="34" charset="-120"/>
              </a:rPr>
              <a:t>Six point for photography that must read as photography, in a report or on a page beside body copy. Ten point as the house setting for documentation imagery. Sixteen and above for statements, where the mark should be unmistakable and the sitter is a gesture rather than a likeness.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B5AFA0"/>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C3BDAF"/>
          </a:solidFill>
          <a:ln/>
        </p:spPr>
      </p:sp>
      <p:sp>
        <p:nvSpPr>
          <p:cNvPr id="3" name="Shape 1"/>
          <p:cNvSpPr/>
          <p:nvPr/>
        </p:nvSpPr>
        <p:spPr>
          <a:xfrm>
            <a:off x="0" y="237744"/>
            <a:ext cx="12191695" cy="0"/>
          </a:xfrm>
          <a:prstGeom prst="line">
            <a:avLst/>
          </a:prstGeom>
          <a:noFill/>
          <a:ln w="9525">
            <a:solidFill>
              <a:srgbClr val="0F0F10"/>
            </a:solidFill>
            <a:prstDash val="solid"/>
          </a:ln>
        </p:spPr>
      </p:sp>
      <p:sp>
        <p:nvSpPr>
          <p:cNvPr id="4" name="Text 2"/>
          <p:cNvSpPr txBox="1"/>
          <p:nvPr/>
        </p:nvSpPr>
        <p:spPr>
          <a:xfrm>
            <a:off x="508406" y="50292"/>
            <a:ext cx="292608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Five Points Digital Studio</a:t>
            </a:r>
            <a:endParaRPr lang="en-US" sz="750" dirty="0"/>
          </a:p>
        </p:txBody>
      </p:sp>
      <p:sp>
        <p:nvSpPr>
          <p:cNvPr id="5" name="Text 3"/>
          <p:cNvSpPr txBox="1"/>
          <p:nvPr/>
        </p:nvSpPr>
        <p:spPr>
          <a:xfrm>
            <a:off x="4364431" y="50292"/>
            <a:ext cx="329184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The screen</a:t>
            </a:r>
            <a:endParaRPr lang="en-US" sz="750" dirty="0"/>
          </a:p>
        </p:txBody>
      </p:sp>
      <p:sp>
        <p:nvSpPr>
          <p:cNvPr id="6" name="Text 4"/>
          <p:cNvSpPr txBox="1"/>
          <p:nvPr/>
        </p:nvSpPr>
        <p:spPr>
          <a:xfrm>
            <a:off x="8220456" y="50292"/>
            <a:ext cx="182880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2026</a:t>
            </a:r>
            <a:endParaRPr lang="en-US" sz="750" dirty="0"/>
          </a:p>
        </p:txBody>
      </p:sp>
      <p:sp>
        <p:nvSpPr>
          <p:cNvPr id="7" name="Text 5"/>
          <p:cNvSpPr txBox="1"/>
          <p:nvPr/>
        </p:nvSpPr>
        <p:spPr>
          <a:xfrm>
            <a:off x="10415016" y="50292"/>
            <a:ext cx="1280160" cy="146304"/>
          </a:xfrm>
          <a:prstGeom prst="rect">
            <a:avLst/>
          </a:prstGeom>
          <a:noFill/>
          <a:ln/>
        </p:spPr>
        <p:txBody>
          <a:bodyPr wrap="square" lIns="0" tIns="0" rIns="0" bIns="0" rtlCol="0" anchor="ctr"/>
          <a:lstStyle/>
          <a:p>
            <a:pPr algn="r" indent="0" marL="0">
              <a:buNone/>
            </a:pPr>
            <a:r>
              <a:rPr lang="en-US" sz="750" dirty="0">
                <a:solidFill>
                  <a:srgbClr val="0F0F10"/>
                </a:solidFill>
                <a:latin typeface="Manrope" pitchFamily="34" charset="0"/>
                <a:ea typeface="Manrope" pitchFamily="34" charset="-122"/>
                <a:cs typeface="Manrope" pitchFamily="34" charset="-120"/>
              </a:rPr>
              <a:t>pg 4</a:t>
            </a:r>
            <a:endParaRPr lang="en-US" sz="750" dirty="0"/>
          </a:p>
        </p:txBody>
      </p:sp>
      <p:sp>
        <p:nvSpPr>
          <p:cNvPr id="8" name="Text 6"/>
          <p:cNvSpPr txBox="1"/>
          <p:nvPr/>
        </p:nvSpPr>
        <p:spPr>
          <a:xfrm>
            <a:off x="508406" y="731520"/>
            <a:ext cx="4206240" cy="822960"/>
          </a:xfrm>
          <a:prstGeom prst="rect">
            <a:avLst/>
          </a:prstGeom>
          <a:noFill/>
          <a:ln/>
        </p:spPr>
        <p:txBody>
          <a:bodyPr wrap="square" lIns="0" tIns="0" rIns="0" bIns="0" rtlCol="0" anchor="t"/>
          <a:lstStyle/>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At the dot</a:t>
            </a:r>
            <a:endParaRPr lang="en-US" sz="4300" dirty="0"/>
          </a:p>
        </p:txBody>
      </p:sp>
      <p:sp>
        <p:nvSpPr>
          <p:cNvPr id="9" name="Text 7"/>
          <p:cNvSpPr txBox="1"/>
          <p:nvPr/>
        </p:nvSpPr>
        <p:spPr>
          <a:xfrm>
            <a:off x="4364431" y="804672"/>
            <a:ext cx="7330745" cy="914400"/>
          </a:xfrm>
          <a:prstGeom prst="rect">
            <a:avLst/>
          </a:prstGeom>
          <a:noFill/>
          <a:ln/>
        </p:spPr>
        <p:txBody>
          <a:bodyPr wrap="square" lIns="0" tIns="0" rIns="0" bIns="0" rtlCol="0" anchor="t"/>
          <a:lstStyle/>
          <a:p>
            <a:pPr indent="0" marL="0">
              <a:lnSpc>
                <a:spcPct val="130000"/>
              </a:lnSpc>
              <a:buNone/>
            </a:pPr>
            <a:r>
              <a:rPr lang="en-US" sz="1250" dirty="0">
                <a:solidFill>
                  <a:srgbClr val="0F0F10"/>
                </a:solidFill>
                <a:latin typeface="Bookmania" pitchFamily="34" charset="0"/>
                <a:ea typeface="Bookmania" pitchFamily="34" charset="-122"/>
                <a:cs typeface="Bookmania" pitchFamily="34" charset="-120"/>
              </a:rPr>
              <a:t>The same eye at a twenty-six point screen, either way round. The pentagons carry the midtones. In the lightest passages they give way to the rosette itself.</a:t>
            </a:r>
            <a:endParaRPr lang="en-US" sz="1250" dirty="0"/>
          </a:p>
        </p:txBody>
      </p:sp>
      <p:pic>
        <p:nvPicPr>
          <p:cNvPr id="10" name="Image 0" descr="f-zooms.png">    </p:cNvPr>
          <p:cNvPicPr>
            <a:picLocks noChangeAspect="1"/>
          </p:cNvPicPr>
          <p:nvPr/>
        </p:nvPicPr>
        <p:blipFill>
          <a:blip r:embed="rId1"/>
          <a:stretch>
            <a:fillRect/>
          </a:stretch>
        </p:blipFill>
        <p:spPr>
          <a:xfrm>
            <a:off x="1804111" y="1956816"/>
            <a:ext cx="8595360" cy="44437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F8F8F8"/>
          </a:solidFill>
          <a:ln/>
        </p:spPr>
      </p:sp>
      <p:sp>
        <p:nvSpPr>
          <p:cNvPr id="3" name="Shape 1"/>
          <p:cNvSpPr/>
          <p:nvPr/>
        </p:nvSpPr>
        <p:spPr>
          <a:xfrm>
            <a:off x="0" y="237744"/>
            <a:ext cx="12191695" cy="0"/>
          </a:xfrm>
          <a:prstGeom prst="line">
            <a:avLst/>
          </a:prstGeom>
          <a:noFill/>
          <a:ln w="9525">
            <a:solidFill>
              <a:srgbClr val="0F0F10"/>
            </a:solidFill>
            <a:prstDash val="solid"/>
          </a:ln>
        </p:spPr>
      </p:sp>
      <p:sp>
        <p:nvSpPr>
          <p:cNvPr id="4" name="Text 2"/>
          <p:cNvSpPr txBox="1"/>
          <p:nvPr/>
        </p:nvSpPr>
        <p:spPr>
          <a:xfrm>
            <a:off x="508406" y="50292"/>
            <a:ext cx="292608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Five Points Digital Studio</a:t>
            </a:r>
            <a:endParaRPr lang="en-US" sz="750" dirty="0"/>
          </a:p>
        </p:txBody>
      </p:sp>
      <p:sp>
        <p:nvSpPr>
          <p:cNvPr id="5" name="Text 3"/>
          <p:cNvSpPr txBox="1"/>
          <p:nvPr/>
        </p:nvSpPr>
        <p:spPr>
          <a:xfrm>
            <a:off x="4364431" y="50292"/>
            <a:ext cx="329184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The screen</a:t>
            </a:r>
            <a:endParaRPr lang="en-US" sz="750" dirty="0"/>
          </a:p>
        </p:txBody>
      </p:sp>
      <p:sp>
        <p:nvSpPr>
          <p:cNvPr id="6" name="Text 4"/>
          <p:cNvSpPr txBox="1"/>
          <p:nvPr/>
        </p:nvSpPr>
        <p:spPr>
          <a:xfrm>
            <a:off x="8220456" y="50292"/>
            <a:ext cx="182880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2026</a:t>
            </a:r>
            <a:endParaRPr lang="en-US" sz="750" dirty="0"/>
          </a:p>
        </p:txBody>
      </p:sp>
      <p:sp>
        <p:nvSpPr>
          <p:cNvPr id="7" name="Text 5"/>
          <p:cNvSpPr txBox="1"/>
          <p:nvPr/>
        </p:nvSpPr>
        <p:spPr>
          <a:xfrm>
            <a:off x="10415016" y="50292"/>
            <a:ext cx="1280160" cy="146304"/>
          </a:xfrm>
          <a:prstGeom prst="rect">
            <a:avLst/>
          </a:prstGeom>
          <a:noFill/>
          <a:ln/>
        </p:spPr>
        <p:txBody>
          <a:bodyPr wrap="square" lIns="0" tIns="0" rIns="0" bIns="0" rtlCol="0" anchor="ctr"/>
          <a:lstStyle/>
          <a:p>
            <a:pPr algn="r" indent="0" marL="0">
              <a:buNone/>
            </a:pPr>
            <a:r>
              <a:rPr lang="en-US" sz="750" dirty="0">
                <a:solidFill>
                  <a:srgbClr val="0F0F10"/>
                </a:solidFill>
                <a:latin typeface="Manrope" pitchFamily="34" charset="0"/>
                <a:ea typeface="Manrope" pitchFamily="34" charset="-122"/>
                <a:cs typeface="Manrope" pitchFamily="34" charset="-120"/>
              </a:rPr>
              <a:t>pg 5</a:t>
            </a:r>
            <a:endParaRPr lang="en-US" sz="750" dirty="0"/>
          </a:p>
        </p:txBody>
      </p:sp>
      <p:sp>
        <p:nvSpPr>
          <p:cNvPr id="8" name="Text 6"/>
          <p:cNvSpPr txBox="1"/>
          <p:nvPr/>
        </p:nvSpPr>
        <p:spPr>
          <a:xfrm>
            <a:off x="508406" y="731520"/>
            <a:ext cx="4937760" cy="822960"/>
          </a:xfrm>
          <a:prstGeom prst="rect">
            <a:avLst/>
          </a:prstGeom>
          <a:noFill/>
          <a:ln/>
        </p:spPr>
        <p:txBody>
          <a:bodyPr wrap="square" lIns="0" tIns="0" rIns="0" bIns="0" rtlCol="0" anchor="t"/>
          <a:lstStyle/>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What it needs</a:t>
            </a:r>
            <a:endParaRPr lang="en-US" sz="4300" dirty="0"/>
          </a:p>
        </p:txBody>
      </p:sp>
      <p:sp>
        <p:nvSpPr>
          <p:cNvPr id="9" name="Text 7"/>
          <p:cNvSpPr txBox="1"/>
          <p:nvPr/>
        </p:nvSpPr>
        <p:spPr>
          <a:xfrm>
            <a:off x="4364431" y="804672"/>
            <a:ext cx="7330745" cy="914400"/>
          </a:xfrm>
          <a:prstGeom prst="rect">
            <a:avLst/>
          </a:prstGeom>
          <a:noFill/>
          <a:ln/>
        </p:spPr>
        <p:txBody>
          <a:bodyPr wrap="square" lIns="0" tIns="0" rIns="0" bIns="0" rtlCol="0" anchor="t"/>
          <a:lstStyle/>
          <a:p>
            <a:pPr indent="0" marL="0">
              <a:lnSpc>
                <a:spcPct val="130000"/>
              </a:lnSpc>
              <a:buNone/>
            </a:pPr>
            <a:r>
              <a:rPr lang="en-US" sz="1250" dirty="0">
                <a:solidFill>
                  <a:srgbClr val="0F0F10"/>
                </a:solidFill>
                <a:latin typeface="Bookmania" pitchFamily="34" charset="0"/>
                <a:ea typeface="Bookmania" pitchFamily="34" charset="-122"/>
                <a:cs typeface="Bookmania" pitchFamily="34" charset="-120"/>
              </a:rPr>
              <a:t>The screen is built and calibrated. Three things stand between it and use.</a:t>
            </a:r>
            <a:endParaRPr lang="en-US" sz="1250" dirty="0"/>
          </a:p>
        </p:txBody>
      </p:sp>
      <p:sp>
        <p:nvSpPr>
          <p:cNvPr id="10" name="Shape 8"/>
          <p:cNvSpPr/>
          <p:nvPr/>
        </p:nvSpPr>
        <p:spPr>
          <a:xfrm>
            <a:off x="508406" y="1883664"/>
            <a:ext cx="3546043" cy="3794760"/>
          </a:xfrm>
          <a:prstGeom prst="roundRect">
            <a:avLst>
              <a:gd name="adj" fmla="val 2321"/>
            </a:avLst>
          </a:prstGeom>
          <a:solidFill>
            <a:srgbClr val="F6DDDD"/>
          </a:solidFill>
          <a:ln/>
        </p:spPr>
      </p:sp>
      <p:sp>
        <p:nvSpPr>
          <p:cNvPr id="11" name="Text 9"/>
          <p:cNvSpPr txBox="1"/>
          <p:nvPr/>
        </p:nvSpPr>
        <p:spPr>
          <a:xfrm>
            <a:off x="782726" y="2121408"/>
            <a:ext cx="2997403" cy="365760"/>
          </a:xfrm>
          <a:prstGeom prst="rect">
            <a:avLst/>
          </a:prstGeom>
          <a:noFill/>
          <a:ln/>
        </p:spPr>
        <p:txBody>
          <a:bodyPr wrap="square" lIns="0" tIns="0" rIns="0" bIns="0" rtlCol="0" anchor="t"/>
          <a:lstStyle/>
          <a:p>
            <a:pPr indent="0" marL="0">
              <a:buNone/>
            </a:pPr>
            <a:r>
              <a:rPr lang="en-US" sz="1700" dirty="0">
                <a:solidFill>
                  <a:srgbClr val="A72C2C"/>
                </a:solidFill>
                <a:latin typeface="Bookmania" pitchFamily="34" charset="0"/>
                <a:ea typeface="Bookmania" pitchFamily="34" charset="-122"/>
                <a:cs typeface="Bookmania" pitchFamily="34" charset="-120"/>
              </a:rPr>
              <a:t>Photography</a:t>
            </a:r>
            <a:endParaRPr lang="en-US" sz="1700" dirty="0"/>
          </a:p>
        </p:txBody>
      </p:sp>
      <p:sp>
        <p:nvSpPr>
          <p:cNvPr id="12" name="Text 10"/>
          <p:cNvSpPr txBox="1"/>
          <p:nvPr/>
        </p:nvSpPr>
        <p:spPr>
          <a:xfrm>
            <a:off x="782726" y="2615184"/>
            <a:ext cx="2997403" cy="3017520"/>
          </a:xfrm>
          <a:prstGeom prst="rect">
            <a:avLst/>
          </a:prstGeom>
          <a:noFill/>
          <a:ln/>
        </p:spPr>
        <p:txBody>
          <a:bodyPr wrap="square" lIns="0" tIns="0" rIns="0" bIns="0" rtlCol="0" anchor="t"/>
          <a:lstStyle/>
          <a:p>
            <a:pPr indent="0" marL="0">
              <a:lnSpc>
                <a:spcPct val="150000"/>
              </a:lnSpc>
              <a:buNone/>
            </a:pPr>
            <a:r>
              <a:rPr lang="en-US" sz="860" dirty="0">
                <a:solidFill>
                  <a:srgbClr val="1C1A17"/>
                </a:solidFill>
                <a:latin typeface="Manrope" pitchFamily="34" charset="0"/>
                <a:ea typeface="Manrope" pitchFamily="34" charset="-122"/>
                <a:cs typeface="Manrope" pitchFamily="34" charset="-120"/>
              </a:rPr>
              <a:t>This is the binding constraint, not the screen.</a:t>
            </a:r>
            <a:endParaRPr lang="en-US" sz="860" dirty="0"/>
          </a:p>
          <a:p>
            <a:pPr indent="0" marL="0">
              <a:lnSpc>
                <a:spcPct val="150000"/>
              </a:lnSpc>
              <a:buNone/>
            </a:pPr>
            <a:endParaRPr lang="en-US" sz="860" dirty="0"/>
          </a:p>
          <a:p>
            <a:pPr indent="0" marL="0">
              <a:lnSpc>
                <a:spcPct val="150000"/>
              </a:lnSpc>
              <a:buNone/>
            </a:pPr>
            <a:r>
              <a:rPr lang="en-US" sz="860" dirty="0">
                <a:solidFill>
                  <a:srgbClr val="1C1A17"/>
                </a:solidFill>
                <a:latin typeface="Manrope" pitchFamily="34" charset="0"/>
                <a:ea typeface="Manrope" pitchFamily="34" charset="-122"/>
                <a:cs typeface="Manrope" pitchFamily="34" charset="-120"/>
              </a:rPr>
              <a:t>The asset library holds four stock portraits. They are AI-generated, two carry visible watermarks, and none of them is a tradesperson.</a:t>
            </a:r>
            <a:endParaRPr lang="en-US" sz="860" dirty="0"/>
          </a:p>
          <a:p>
            <a:pPr indent="0" marL="0">
              <a:lnSpc>
                <a:spcPct val="150000"/>
              </a:lnSpc>
              <a:buNone/>
            </a:pPr>
            <a:endParaRPr lang="en-US" sz="860" dirty="0"/>
          </a:p>
          <a:p>
            <a:pPr indent="0" marL="0">
              <a:lnSpc>
                <a:spcPct val="150000"/>
              </a:lnSpc>
              <a:buNone/>
            </a:pPr>
            <a:r>
              <a:rPr lang="en-US" sz="860" dirty="0">
                <a:solidFill>
                  <a:srgbClr val="1C1A17"/>
                </a:solidFill>
                <a:latin typeface="Manrope" pitchFamily="34" charset="0"/>
                <a:ea typeface="Manrope" pitchFamily="34" charset="-122"/>
                <a:cs typeface="Manrope" pitchFamily="34" charset="-120"/>
              </a:rPr>
              <a:t>A screen this strong makes the source obvious rather than hiding it. It wants real photography of real people in the trades, shot with clean tonal separation: a light subject against a dark ground, or the reverse. Busy environmental shots screen badly, as the one environmental shot in the library does.</a:t>
            </a:r>
            <a:endParaRPr lang="en-US" sz="860" dirty="0"/>
          </a:p>
        </p:txBody>
      </p:sp>
      <p:sp>
        <p:nvSpPr>
          <p:cNvPr id="13" name="Shape 11"/>
          <p:cNvSpPr/>
          <p:nvPr/>
        </p:nvSpPr>
        <p:spPr>
          <a:xfrm>
            <a:off x="4328770" y="1883664"/>
            <a:ext cx="3546043" cy="3794760"/>
          </a:xfrm>
          <a:prstGeom prst="roundRect">
            <a:avLst>
              <a:gd name="adj" fmla="val 2321"/>
            </a:avLst>
          </a:prstGeom>
          <a:solidFill>
            <a:srgbClr val="E3F0E9"/>
          </a:solidFill>
          <a:ln/>
        </p:spPr>
      </p:sp>
      <p:sp>
        <p:nvSpPr>
          <p:cNvPr id="14" name="Text 12"/>
          <p:cNvSpPr txBox="1"/>
          <p:nvPr/>
        </p:nvSpPr>
        <p:spPr>
          <a:xfrm>
            <a:off x="4603090" y="2121408"/>
            <a:ext cx="2997403" cy="365760"/>
          </a:xfrm>
          <a:prstGeom prst="rect">
            <a:avLst/>
          </a:prstGeom>
          <a:noFill/>
          <a:ln/>
        </p:spPr>
        <p:txBody>
          <a:bodyPr wrap="square" lIns="0" tIns="0" rIns="0" bIns="0" rtlCol="0" anchor="t"/>
          <a:lstStyle/>
          <a:p>
            <a:pPr indent="0" marL="0">
              <a:buNone/>
            </a:pPr>
            <a:r>
              <a:rPr lang="en-US" sz="1700" dirty="0">
                <a:solidFill>
                  <a:srgbClr val="37624D"/>
                </a:solidFill>
                <a:latin typeface="Bookmania" pitchFamily="34" charset="0"/>
                <a:ea typeface="Bookmania" pitchFamily="34" charset="-122"/>
                <a:cs typeface="Bookmania" pitchFamily="34" charset="-120"/>
              </a:rPr>
              <a:t>Where it runs</a:t>
            </a:r>
            <a:endParaRPr lang="en-US" sz="1700" dirty="0"/>
          </a:p>
        </p:txBody>
      </p:sp>
      <p:sp>
        <p:nvSpPr>
          <p:cNvPr id="15" name="Text 13"/>
          <p:cNvSpPr txBox="1"/>
          <p:nvPr/>
        </p:nvSpPr>
        <p:spPr>
          <a:xfrm>
            <a:off x="4603090" y="2615184"/>
            <a:ext cx="2997403" cy="3017520"/>
          </a:xfrm>
          <a:prstGeom prst="rect">
            <a:avLst/>
          </a:prstGeom>
          <a:noFill/>
          <a:ln/>
        </p:spPr>
        <p:txBody>
          <a:bodyPr wrap="square" lIns="0" tIns="0" rIns="0" bIns="0" rtlCol="0" anchor="t"/>
          <a:lstStyle/>
          <a:p>
            <a:pPr indent="0" marL="0">
              <a:lnSpc>
                <a:spcPct val="150000"/>
              </a:lnSpc>
              <a:buNone/>
            </a:pPr>
            <a:r>
              <a:rPr lang="en-US" sz="860" dirty="0">
                <a:solidFill>
                  <a:srgbClr val="1C1A17"/>
                </a:solidFill>
                <a:latin typeface="Manrope" pitchFamily="34" charset="0"/>
                <a:ea typeface="Manrope" pitchFamily="34" charset="-122"/>
                <a:cs typeface="Manrope" pitchFamily="34" charset="-120"/>
              </a:rPr>
              <a:t>My recommendation: every photograph in the identity book, the capabilities deck and the proposal runs screened. No unscreened photography anywhere in the documentation.</a:t>
            </a:r>
            <a:endParaRPr lang="en-US" sz="860" dirty="0"/>
          </a:p>
          <a:p>
            <a:pPr indent="0" marL="0">
              <a:lnSpc>
                <a:spcPct val="150000"/>
              </a:lnSpc>
              <a:buNone/>
            </a:pPr>
            <a:endParaRPr lang="en-US" sz="860" dirty="0"/>
          </a:p>
          <a:p>
            <a:pPr indent="0" marL="0">
              <a:lnSpc>
                <a:spcPct val="150000"/>
              </a:lnSpc>
              <a:buNone/>
            </a:pPr>
            <a:r>
              <a:rPr lang="en-US" sz="860" dirty="0">
                <a:solidFill>
                  <a:srgbClr val="1C1A17"/>
                </a:solidFill>
                <a:latin typeface="Manrope" pitchFamily="34" charset="0"/>
                <a:ea typeface="Manrope" pitchFamily="34" charset="-122"/>
                <a:cs typeface="Manrope" pitchFamily="34" charset="-120"/>
              </a:rPr>
              <a:t>That makes it a system rather than an effect, and it removes the question of when to use it, which is the question that kills features like this.</a:t>
            </a:r>
            <a:endParaRPr lang="en-US" sz="860" dirty="0"/>
          </a:p>
          <a:p>
            <a:pPr indent="0" marL="0">
              <a:lnSpc>
                <a:spcPct val="150000"/>
              </a:lnSpc>
              <a:buNone/>
            </a:pPr>
            <a:endParaRPr lang="en-US" sz="860" dirty="0"/>
          </a:p>
          <a:p>
            <a:pPr indent="0" marL="0">
              <a:lnSpc>
                <a:spcPct val="150000"/>
              </a:lnSpc>
              <a:buNone/>
            </a:pPr>
            <a:r>
              <a:rPr lang="en-US" sz="860" dirty="0">
                <a:solidFill>
                  <a:srgbClr val="1C1A17"/>
                </a:solidFill>
                <a:latin typeface="Manrope" pitchFamily="34" charset="0"/>
                <a:ea typeface="Manrope" pitchFamily="34" charset="-122"/>
                <a:cs typeface="Manrope" pitchFamily="34" charset="-120"/>
              </a:rPr>
              <a:t>The site is a separate decision, since the screen costs bandwidth and needs care at small breakpoints.</a:t>
            </a:r>
            <a:endParaRPr lang="en-US" sz="860" dirty="0"/>
          </a:p>
        </p:txBody>
      </p:sp>
      <p:sp>
        <p:nvSpPr>
          <p:cNvPr id="16" name="Shape 14"/>
          <p:cNvSpPr/>
          <p:nvPr/>
        </p:nvSpPr>
        <p:spPr>
          <a:xfrm>
            <a:off x="8149133" y="1883664"/>
            <a:ext cx="3546043" cy="3794760"/>
          </a:xfrm>
          <a:prstGeom prst="roundRect">
            <a:avLst>
              <a:gd name="adj" fmla="val 2321"/>
            </a:avLst>
          </a:prstGeom>
          <a:solidFill>
            <a:srgbClr val="DEE8F4"/>
          </a:solidFill>
          <a:ln/>
        </p:spPr>
      </p:sp>
      <p:sp>
        <p:nvSpPr>
          <p:cNvPr id="17" name="Text 15"/>
          <p:cNvSpPr txBox="1"/>
          <p:nvPr/>
        </p:nvSpPr>
        <p:spPr>
          <a:xfrm>
            <a:off x="8423453" y="2121408"/>
            <a:ext cx="2997403" cy="365760"/>
          </a:xfrm>
          <a:prstGeom prst="rect">
            <a:avLst/>
          </a:prstGeom>
          <a:noFill/>
          <a:ln/>
        </p:spPr>
        <p:txBody>
          <a:bodyPr wrap="square" lIns="0" tIns="0" rIns="0" bIns="0" rtlCol="0" anchor="t"/>
          <a:lstStyle/>
          <a:p>
            <a:pPr indent="0" marL="0">
              <a:buNone/>
            </a:pPr>
            <a:r>
              <a:rPr lang="en-US" sz="1700" dirty="0">
                <a:solidFill>
                  <a:srgbClr val="305A92"/>
                </a:solidFill>
                <a:latin typeface="Bookmania" pitchFamily="34" charset="0"/>
                <a:ea typeface="Bookmania" pitchFamily="34" charset="-122"/>
                <a:cs typeface="Bookmania" pitchFamily="34" charset="-120"/>
              </a:rPr>
              <a:t>The register</a:t>
            </a:r>
            <a:endParaRPr lang="en-US" sz="1700" dirty="0"/>
          </a:p>
        </p:txBody>
      </p:sp>
      <p:sp>
        <p:nvSpPr>
          <p:cNvPr id="18" name="Text 16"/>
          <p:cNvSpPr txBox="1"/>
          <p:nvPr/>
        </p:nvSpPr>
        <p:spPr>
          <a:xfrm>
            <a:off x="8423453" y="2615184"/>
            <a:ext cx="2997403" cy="3017520"/>
          </a:xfrm>
          <a:prstGeom prst="rect">
            <a:avLst/>
          </a:prstGeom>
          <a:noFill/>
          <a:ln/>
        </p:spPr>
        <p:txBody>
          <a:bodyPr wrap="square" lIns="0" tIns="0" rIns="0" bIns="0" rtlCol="0" anchor="t"/>
          <a:lstStyle/>
          <a:p>
            <a:pPr indent="0" marL="0">
              <a:lnSpc>
                <a:spcPct val="150000"/>
              </a:lnSpc>
              <a:buNone/>
            </a:pPr>
            <a:r>
              <a:rPr lang="en-US" sz="860" dirty="0">
                <a:solidFill>
                  <a:srgbClr val="1C1A17"/>
                </a:solidFill>
                <a:latin typeface="Manrope" pitchFamily="34" charset="0"/>
                <a:ea typeface="Manrope" pitchFamily="34" charset="-122"/>
                <a:cs typeface="Manrope" pitchFamily="34" charset="-120"/>
              </a:rPr>
              <a:t>Bone on ink is the strongest of the treatments and the most on-brand. I would make it the default and reserve ink on paper for pages that are already light.</a:t>
            </a:r>
            <a:endParaRPr lang="en-US" sz="860" dirty="0"/>
          </a:p>
          <a:p>
            <a:pPr indent="0" marL="0">
              <a:lnSpc>
                <a:spcPct val="150000"/>
              </a:lnSpc>
              <a:buNone/>
            </a:pPr>
            <a:endParaRPr lang="en-US" sz="860" dirty="0"/>
          </a:p>
          <a:p>
            <a:pPr indent="0" marL="0">
              <a:lnSpc>
                <a:spcPct val="150000"/>
              </a:lnSpc>
              <a:buNone/>
            </a:pPr>
            <a:r>
              <a:rPr lang="en-US" sz="860" dirty="0">
                <a:solidFill>
                  <a:srgbClr val="1C1A17"/>
                </a:solidFill>
                <a:latin typeface="Manrope" pitchFamily="34" charset="0"/>
                <a:ea typeface="Manrope" pitchFamily="34" charset="-122"/>
                <a:cs typeface="Manrope" pitchFamily="34" charset="-120"/>
              </a:rPr>
              <a:t>A voice-coloured screen, coral or ash green on paper, works and is held in reserve for section dividers.</a:t>
            </a:r>
            <a:endParaRPr lang="en-US" sz="860" dirty="0"/>
          </a:p>
          <a:p>
            <a:pPr indent="0" marL="0">
              <a:lnSpc>
                <a:spcPct val="150000"/>
              </a:lnSpc>
              <a:buNone/>
            </a:pPr>
            <a:endParaRPr lang="en-US" sz="860" dirty="0"/>
          </a:p>
          <a:p>
            <a:pPr indent="0" marL="0">
              <a:lnSpc>
                <a:spcPct val="150000"/>
              </a:lnSpc>
              <a:buNone/>
            </a:pPr>
            <a:r>
              <a:rPr lang="en-US" sz="860" dirty="0">
                <a:solidFill>
                  <a:srgbClr val="1C1A17"/>
                </a:solidFill>
                <a:latin typeface="Manrope" pitchFamily="34" charset="0"/>
                <a:ea typeface="Manrope" pitchFamily="34" charset="-122"/>
                <a:cs typeface="Manrope" pitchFamily="34" charset="-120"/>
              </a:rPr>
              <a:t>One open question worth your ruling: whether the screen is a house treatment applied to everything, or a device reserved for people, with product and place shot straight.</a:t>
            </a:r>
            <a:endParaRPr lang="en-US" sz="860" dirty="0"/>
          </a:p>
        </p:txBody>
      </p:sp>
      <p:sp>
        <p:nvSpPr>
          <p:cNvPr id="19" name="Text 17"/>
          <p:cNvSpPr txBox="1"/>
          <p:nvPr/>
        </p:nvSpPr>
        <p:spPr>
          <a:xfrm>
            <a:off x="508406" y="5907024"/>
            <a:ext cx="7330745" cy="822960"/>
          </a:xfrm>
          <a:prstGeom prst="rect">
            <a:avLst/>
          </a:prstGeom>
          <a:noFill/>
          <a:ln/>
        </p:spPr>
        <p:txBody>
          <a:bodyPr wrap="square" lIns="0" tIns="0" rIns="0" bIns="0" rtlCol="0" anchor="t"/>
          <a:lstStyle/>
          <a:p>
            <a:pPr indent="0" marL="0">
              <a:lnSpc>
                <a:spcPct val="162000"/>
              </a:lnSpc>
              <a:buNone/>
            </a:pPr>
            <a:r>
              <a:rPr lang="en-US" sz="950" dirty="0">
                <a:solidFill>
                  <a:srgbClr val="1C1A17"/>
                </a:solidFill>
                <a:latin typeface="Manrope" pitchFamily="34" charset="0"/>
                <a:ea typeface="Manrope" pitchFamily="34" charset="-122"/>
                <a:cs typeface="Manrope" pitchFamily="34" charset="-120"/>
              </a:rPr>
              <a:t>The engine is parametric: source, ruling, angle, shape, levels and colourway are all arguments. Once the photography exists, screening the whole library is one pass.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Five Points — the screen</dc:title>
  <dc:subject>PptxGenJS Presentation</dc:subject>
  <dc:creator>Five Points Digital Studio</dc:creator>
  <cp:lastModifiedBy>Five Points Digital Studio</cp:lastModifiedBy>
  <cp:revision>1</cp:revision>
  <dcterms:created xsi:type="dcterms:W3CDTF">2026-09-08T06:16:47Z</dcterms:created>
  <dcterms:modified xsi:type="dcterms:W3CDTF">2026-09-08T06:16:47Z</dcterms:modified>
</cp:coreProperties>
</file>