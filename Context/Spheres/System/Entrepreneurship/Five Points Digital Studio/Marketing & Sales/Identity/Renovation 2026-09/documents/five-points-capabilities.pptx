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96E6E"/>
          </a:solidFill>
          <a:ln/>
        </p:spPr>
      </p:sp>
      <p:pic>
        <p:nvPicPr>
          <p:cNvPr id="3" name="Image 0" descr="/private/tmp/claude-501/-Users-martyspicer-Alfred-Pennyworth/0034c3d3-651d-4bed-a452-888191aa8c47/scratchpad/mark-full-bone.png">    </p:cNvPr>
          <p:cNvPicPr>
            <a:picLocks noChangeAspect="1"/>
          </p:cNvPicPr>
          <p:nvPr/>
        </p:nvPicPr>
        <p:blipFill>
          <a:blip r:embed="rId1"/>
          <a:stretch>
            <a:fillRect/>
          </a:stretch>
        </p:blipFill>
        <p:spPr>
          <a:xfrm>
            <a:off x="5812384" y="457200"/>
            <a:ext cx="566928" cy="566928"/>
          </a:xfrm>
          <a:prstGeom prst="rect">
            <a:avLst/>
          </a:prstGeom>
        </p:spPr>
      </p:pic>
      <p:sp>
        <p:nvSpPr>
          <p:cNvPr id="4" name="Text 1"/>
          <p:cNvSpPr txBox="1"/>
          <p:nvPr/>
        </p:nvSpPr>
        <p:spPr>
          <a:xfrm>
            <a:off x="0" y="1207008"/>
            <a:ext cx="12191695" cy="201168"/>
          </a:xfrm>
          <a:prstGeom prst="rect">
            <a:avLst/>
          </a:prstGeom>
          <a:noFill/>
          <a:ln/>
        </p:spPr>
        <p:txBody>
          <a:bodyPr wrap="square" lIns="0" tIns="0" rIns="0" bIns="0" rtlCol="0" anchor="t"/>
          <a:lstStyle/>
          <a:p>
            <a:pPr algn="ctr" indent="0" marL="0">
              <a:buNone/>
            </a:pPr>
            <a:r>
              <a:rPr lang="en-US" sz="750" spc="180" kern="0" dirty="0">
                <a:solidFill>
                  <a:srgbClr val="8F2020"/>
                </a:solidFill>
                <a:latin typeface="Manrope" pitchFamily="34" charset="0"/>
                <a:ea typeface="Manrope" pitchFamily="34" charset="-122"/>
                <a:cs typeface="Manrope" pitchFamily="34" charset="-120"/>
              </a:rPr>
              <a:t>THE MARKETING CONSULTANCY THAT BUILDS THE SYSTEMS AN OWNER KEEPS</a:t>
            </a:r>
            <a:endParaRPr lang="en-US" sz="750" dirty="0"/>
          </a:p>
        </p:txBody>
      </p:sp>
      <p:sp>
        <p:nvSpPr>
          <p:cNvPr id="5" name="Text 2"/>
          <p:cNvSpPr txBox="1"/>
          <p:nvPr/>
        </p:nvSpPr>
        <p:spPr>
          <a:xfrm>
            <a:off x="548640" y="1700784"/>
            <a:ext cx="11094415" cy="4206240"/>
          </a:xfrm>
          <a:prstGeom prst="rect">
            <a:avLst/>
          </a:prstGeom>
          <a:noFill/>
          <a:ln/>
        </p:spPr>
        <p:txBody>
          <a:bodyPr wrap="square" lIns="0" tIns="0" rIns="0" bIns="0" rtlCol="0" anchor="t"/>
          <a:lstStyle/>
          <a:p>
            <a:pPr algn="ctr" indent="0" marL="0">
              <a:lnSpc>
                <a:spcPct val="96000"/>
              </a:lnSpc>
              <a:buNone/>
            </a:pPr>
            <a:r>
              <a:rPr lang="en-US" sz="9200" b="1" dirty="0">
                <a:solidFill>
                  <a:srgbClr val="8F2020"/>
                </a:solidFill>
                <a:latin typeface="Bookmania" pitchFamily="34" charset="0"/>
                <a:ea typeface="Bookmania" pitchFamily="34" charset="-122"/>
                <a:cs typeface="Bookmania" pitchFamily="34" charset="-120"/>
              </a:rPr>
              <a:t>WE BRING</a:t>
            </a:r>
            <a:endParaRPr lang="en-US" sz="9200" dirty="0"/>
          </a:p>
          <a:p>
            <a:pPr algn="ctr" indent="0" marL="0">
              <a:lnSpc>
                <a:spcPct val="96000"/>
              </a:lnSpc>
              <a:buNone/>
            </a:pPr>
            <a:r>
              <a:rPr lang="en-US" sz="9200" b="1" dirty="0">
                <a:solidFill>
                  <a:srgbClr val="8F2020"/>
                </a:solidFill>
                <a:latin typeface="Bookmania" pitchFamily="34" charset="0"/>
                <a:ea typeface="Bookmania" pitchFamily="34" charset="-122"/>
                <a:cs typeface="Bookmania" pitchFamily="34" charset="-120"/>
              </a:rPr>
              <a:t>THE CITY</a:t>
            </a:r>
            <a:endParaRPr lang="en-US" sz="9200" dirty="0"/>
          </a:p>
          <a:p>
            <a:pPr algn="ctr" indent="0" marL="0">
              <a:lnSpc>
                <a:spcPct val="96000"/>
              </a:lnSpc>
              <a:buNone/>
            </a:pPr>
            <a:r>
              <a:rPr lang="en-US" sz="9200" b="1" dirty="0">
                <a:solidFill>
                  <a:srgbClr val="8F2020"/>
                </a:solidFill>
                <a:latin typeface="Bookmania" pitchFamily="34" charset="0"/>
                <a:ea typeface="Bookmania" pitchFamily="34" charset="-122"/>
                <a:cs typeface="Bookmania" pitchFamily="34" charset="-120"/>
              </a:rPr>
              <a:t>TO YOUR DOOR</a:t>
            </a:r>
            <a:endParaRPr lang="en-US" sz="9200" dirty="0"/>
          </a:p>
        </p:txBody>
      </p:sp>
      <p:sp>
        <p:nvSpPr>
          <p:cNvPr id="6" name="Text 3"/>
          <p:cNvSpPr txBox="1"/>
          <p:nvPr/>
        </p:nvSpPr>
        <p:spPr>
          <a:xfrm>
            <a:off x="0" y="6272784"/>
            <a:ext cx="12191695" cy="201168"/>
          </a:xfrm>
          <a:prstGeom prst="rect">
            <a:avLst/>
          </a:prstGeom>
          <a:noFill/>
          <a:ln/>
        </p:spPr>
        <p:txBody>
          <a:bodyPr wrap="square" lIns="0" tIns="0" rIns="0" bIns="0" rtlCol="0" anchor="t"/>
          <a:lstStyle/>
          <a:p>
            <a:pPr algn="ctr" indent="0" marL="0">
              <a:buNone/>
            </a:pPr>
            <a:r>
              <a:rPr lang="en-US" sz="750" spc="180" kern="0" dirty="0">
                <a:solidFill>
                  <a:srgbClr val="8F2020"/>
                </a:solidFill>
                <a:latin typeface="Manrope" pitchFamily="34" charset="0"/>
                <a:ea typeface="Manrope" pitchFamily="34" charset="-122"/>
                <a:cs typeface="Manrope" pitchFamily="34" charset="-120"/>
              </a:rPr>
              <a:t>FIVE POINTS DIGITAL STUDIO  ·  DECATUR, GEORGIA  ·  EST. 2021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10"/>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1C1A17"/>
          </a:solidFill>
          <a:ln/>
        </p:spPr>
      </p:sp>
      <p:sp>
        <p:nvSpPr>
          <p:cNvPr id="3" name="Shape 1"/>
          <p:cNvSpPr/>
          <p:nvPr/>
        </p:nvSpPr>
        <p:spPr>
          <a:xfrm>
            <a:off x="0" y="237744"/>
            <a:ext cx="12191695" cy="0"/>
          </a:xfrm>
          <a:prstGeom prst="line">
            <a:avLst/>
          </a:prstGeom>
          <a:noFill/>
          <a:ln w="9525">
            <a:solidFill>
              <a:srgbClr val="3A362F"/>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EAE0C8"/>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EAE0C8"/>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EAE0C8"/>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EAE0C8"/>
                </a:solidFill>
                <a:latin typeface="Manrope" pitchFamily="34" charset="0"/>
                <a:ea typeface="Manrope" pitchFamily="34" charset="-122"/>
                <a:cs typeface="Manrope" pitchFamily="34" charset="-120"/>
              </a:rPr>
              <a:t>pg 2</a:t>
            </a:r>
            <a:endParaRPr lang="en-US" sz="750" dirty="0"/>
          </a:p>
        </p:txBody>
      </p:sp>
      <p:sp>
        <p:nvSpPr>
          <p:cNvPr id="8" name="Shape 6"/>
          <p:cNvSpPr/>
          <p:nvPr/>
        </p:nvSpPr>
        <p:spPr>
          <a:xfrm>
            <a:off x="0" y="237744"/>
            <a:ext cx="12191695" cy="6620256"/>
          </a:xfrm>
          <a:prstGeom prst="rect">
            <a:avLst/>
          </a:prstGeom>
          <a:solidFill>
            <a:srgbClr val="1C1A17"/>
          </a:solidFill>
          <a:ln/>
        </p:spPr>
      </p:sp>
      <p:sp>
        <p:nvSpPr>
          <p:cNvPr id="9" name="Shape 7"/>
          <p:cNvSpPr/>
          <p:nvPr/>
        </p:nvSpPr>
        <p:spPr>
          <a:xfrm>
            <a:off x="0" y="237744"/>
            <a:ext cx="12191695" cy="6620256"/>
          </a:xfrm>
          <a:prstGeom prst="rect">
            <a:avLst/>
          </a:prstGeom>
          <a:solidFill>
            <a:srgbClr val="23201C"/>
          </a:solidFill>
          <a:ln w="9525">
            <a:solidFill>
              <a:srgbClr val="23201C"/>
            </a:solidFill>
            <a:prstDash val="solid"/>
          </a:ln>
        </p:spPr>
      </p:sp>
      <p:sp>
        <p:nvSpPr>
          <p:cNvPr id="10" name="Text 8"/>
          <p:cNvSpPr txBox="1"/>
          <p:nvPr/>
        </p:nvSpPr>
        <p:spPr>
          <a:xfrm>
            <a:off x="508406" y="6382512"/>
            <a:ext cx="4572000" cy="201168"/>
          </a:xfrm>
          <a:prstGeom prst="rect">
            <a:avLst/>
          </a:prstGeom>
          <a:noFill/>
          <a:ln/>
        </p:spPr>
        <p:txBody>
          <a:bodyPr wrap="square" lIns="0" tIns="0" rIns="0" bIns="0" rtlCol="0" anchor="t"/>
          <a:lstStyle/>
          <a:p>
            <a:pPr indent="0" marL="0">
              <a:buNone/>
            </a:pPr>
            <a:r>
              <a:rPr lang="en-US" sz="900" spc="180" kern="0" dirty="0">
                <a:solidFill>
                  <a:srgbClr val="5E574C"/>
                </a:solidFill>
                <a:latin typeface="Manrope" pitchFamily="34" charset="0"/>
                <a:ea typeface="Manrope" pitchFamily="34" charset="-122"/>
                <a:cs typeface="Manrope" pitchFamily="34" charset="-120"/>
              </a:rPr>
              <a:t>THE OWNER AT HIS PLACE  ·  FULL BLEED</a:t>
            </a:r>
            <a:endParaRPr lang="en-US" sz="900" dirty="0"/>
          </a:p>
        </p:txBody>
      </p:sp>
      <p:sp>
        <p:nvSpPr>
          <p:cNvPr id="11" name="Text 9"/>
          <p:cNvSpPr txBox="1"/>
          <p:nvPr/>
        </p:nvSpPr>
        <p:spPr>
          <a:xfrm>
            <a:off x="508406" y="786384"/>
            <a:ext cx="3657600" cy="457200"/>
          </a:xfrm>
          <a:prstGeom prst="rect">
            <a:avLst/>
          </a:prstGeom>
          <a:noFill/>
          <a:ln/>
        </p:spPr>
        <p:txBody>
          <a:bodyPr wrap="square" lIns="0" tIns="0" rIns="0" bIns="0" rtlCol="0" anchor="t"/>
          <a:lstStyle/>
          <a:p>
            <a:pPr indent="0" marL="0">
              <a:lnSpc>
                <a:spcPct val="105000"/>
              </a:lnSpc>
              <a:buNone/>
            </a:pPr>
            <a:r>
              <a:rPr lang="en-US" sz="2600" dirty="0">
                <a:solidFill>
                  <a:srgbClr val="EAE0C8"/>
                </a:solidFill>
                <a:latin typeface="Bookmania" pitchFamily="34" charset="0"/>
                <a:ea typeface="Bookmania" pitchFamily="34" charset="-122"/>
                <a:cs typeface="Bookmania" pitchFamily="34" charset="-120"/>
              </a:rPr>
              <a:t>About</a:t>
            </a:r>
            <a:endParaRPr lang="en-US" sz="2600" dirty="0"/>
          </a:p>
        </p:txBody>
      </p:sp>
      <p:sp>
        <p:nvSpPr>
          <p:cNvPr id="12" name="Text 10"/>
          <p:cNvSpPr txBox="1"/>
          <p:nvPr/>
        </p:nvSpPr>
        <p:spPr>
          <a:xfrm>
            <a:off x="508406" y="1746504"/>
            <a:ext cx="914400" cy="201168"/>
          </a:xfrm>
          <a:prstGeom prst="rect">
            <a:avLst/>
          </a:prstGeom>
          <a:noFill/>
          <a:ln/>
        </p:spPr>
        <p:txBody>
          <a:bodyPr wrap="square" lIns="0" tIns="0" rIns="0" bIns="0" rtlCol="0" anchor="t"/>
          <a:lstStyle/>
          <a:p>
            <a:pPr indent="0" marL="0">
              <a:buNone/>
            </a:pPr>
            <a:r>
              <a:rPr lang="en-US" sz="700" spc="180" kern="0" dirty="0">
                <a:solidFill>
                  <a:srgbClr val="9A9284"/>
                </a:solidFill>
                <a:latin typeface="Manrope" pitchFamily="34" charset="0"/>
                <a:ea typeface="Manrope" pitchFamily="34" charset="-122"/>
                <a:cs typeface="Manrope" pitchFamily="34" charset="-120"/>
              </a:rPr>
              <a:t>(A)</a:t>
            </a:r>
            <a:endParaRPr lang="en-US" sz="700" dirty="0"/>
          </a:p>
        </p:txBody>
      </p:sp>
      <p:sp>
        <p:nvSpPr>
          <p:cNvPr id="13" name="Text 11"/>
          <p:cNvSpPr txBox="1"/>
          <p:nvPr/>
        </p:nvSpPr>
        <p:spPr>
          <a:xfrm>
            <a:off x="508406" y="1993392"/>
            <a:ext cx="5120640" cy="1828800"/>
          </a:xfrm>
          <a:prstGeom prst="rect">
            <a:avLst/>
          </a:prstGeom>
          <a:noFill/>
          <a:ln/>
        </p:spPr>
        <p:txBody>
          <a:bodyPr wrap="square" lIns="0" tIns="0" rIns="0" bIns="0" rtlCol="0" anchor="t"/>
          <a:lstStyle/>
          <a:p>
            <a:pPr indent="0" marL="0">
              <a:lnSpc>
                <a:spcPct val="105000"/>
              </a:lnSpc>
              <a:buNone/>
            </a:pPr>
            <a:r>
              <a:rPr lang="en-US" sz="2600" dirty="0">
                <a:solidFill>
                  <a:srgbClr val="EAE0C8"/>
                </a:solidFill>
                <a:latin typeface="Bookmania" pitchFamily="34" charset="0"/>
                <a:ea typeface="Bookmania" pitchFamily="34" charset="-122"/>
                <a:cs typeface="Bookmania" pitchFamily="34" charset="-120"/>
              </a:rPr>
              <a:t>Five Points is the marketing</a:t>
            </a:r>
            <a:endParaRPr lang="en-US" sz="2600" dirty="0"/>
          </a:p>
          <a:p>
            <a:pPr indent="0" marL="0">
              <a:lnSpc>
                <a:spcPct val="105000"/>
              </a:lnSpc>
              <a:buNone/>
            </a:pPr>
            <a:r>
              <a:rPr lang="en-US" sz="2600" dirty="0">
                <a:solidFill>
                  <a:srgbClr val="EAE0C8"/>
                </a:solidFill>
                <a:latin typeface="Bookmania" pitchFamily="34" charset="0"/>
                <a:ea typeface="Bookmania" pitchFamily="34" charset="-122"/>
                <a:cs typeface="Bookmania" pitchFamily="34" charset="-120"/>
              </a:rPr>
              <a:t>consultancy for owner-operators</a:t>
            </a:r>
            <a:endParaRPr lang="en-US" sz="2600" dirty="0"/>
          </a:p>
          <a:p>
            <a:pPr indent="0" marL="0">
              <a:lnSpc>
                <a:spcPct val="105000"/>
              </a:lnSpc>
              <a:buNone/>
            </a:pPr>
            <a:r>
              <a:rPr lang="en-US" sz="2600" dirty="0">
                <a:solidFill>
                  <a:srgbClr val="EAE0C8"/>
                </a:solidFill>
                <a:latin typeface="Bookmania" pitchFamily="34" charset="0"/>
                <a:ea typeface="Bookmania" pitchFamily="34" charset="-122"/>
                <a:cs typeface="Bookmania" pitchFamily="34" charset="-120"/>
              </a:rPr>
              <a:t>who would rather run the work</a:t>
            </a:r>
            <a:endParaRPr lang="en-US" sz="2600" dirty="0"/>
          </a:p>
          <a:p>
            <a:pPr indent="0" marL="0">
              <a:lnSpc>
                <a:spcPct val="105000"/>
              </a:lnSpc>
              <a:buNone/>
            </a:pPr>
            <a:r>
              <a:rPr lang="en-US" sz="2600" dirty="0">
                <a:solidFill>
                  <a:srgbClr val="EAE0C8"/>
                </a:solidFill>
                <a:latin typeface="Bookmania" pitchFamily="34" charset="0"/>
                <a:ea typeface="Bookmania" pitchFamily="34" charset="-122"/>
                <a:cs typeface="Bookmania" pitchFamily="34" charset="-120"/>
              </a:rPr>
              <a:t>than chase it.</a:t>
            </a:r>
            <a:endParaRPr lang="en-US" sz="2600" dirty="0"/>
          </a:p>
        </p:txBody>
      </p:sp>
      <p:sp>
        <p:nvSpPr>
          <p:cNvPr id="14" name="Text 12"/>
          <p:cNvSpPr txBox="1"/>
          <p:nvPr/>
        </p:nvSpPr>
        <p:spPr>
          <a:xfrm>
            <a:off x="4913071" y="4032504"/>
            <a:ext cx="914400" cy="201168"/>
          </a:xfrm>
          <a:prstGeom prst="rect">
            <a:avLst/>
          </a:prstGeom>
          <a:noFill/>
          <a:ln/>
        </p:spPr>
        <p:txBody>
          <a:bodyPr wrap="square" lIns="0" tIns="0" rIns="0" bIns="0" rtlCol="0" anchor="t"/>
          <a:lstStyle/>
          <a:p>
            <a:pPr indent="0" marL="0">
              <a:buNone/>
            </a:pPr>
            <a:r>
              <a:rPr lang="en-US" sz="700" spc="180" kern="0" dirty="0">
                <a:solidFill>
                  <a:srgbClr val="9A9284"/>
                </a:solidFill>
                <a:latin typeface="Manrope" pitchFamily="34" charset="0"/>
                <a:ea typeface="Manrope" pitchFamily="34" charset="-122"/>
                <a:cs typeface="Manrope" pitchFamily="34" charset="-120"/>
              </a:rPr>
              <a:t>(B)</a:t>
            </a:r>
            <a:endParaRPr lang="en-US" sz="700" dirty="0"/>
          </a:p>
        </p:txBody>
      </p:sp>
      <p:sp>
        <p:nvSpPr>
          <p:cNvPr id="15" name="Text 13"/>
          <p:cNvSpPr txBox="1"/>
          <p:nvPr/>
        </p:nvSpPr>
        <p:spPr>
          <a:xfrm>
            <a:off x="4913071" y="4279392"/>
            <a:ext cx="5486400" cy="1463040"/>
          </a:xfrm>
          <a:prstGeom prst="rect">
            <a:avLst/>
          </a:prstGeom>
          <a:noFill/>
          <a:ln/>
        </p:spPr>
        <p:txBody>
          <a:bodyPr wrap="square" lIns="0" tIns="0" rIns="0" bIns="0" rtlCol="0" anchor="t"/>
          <a:lstStyle/>
          <a:p>
            <a:pPr indent="0" marL="0">
              <a:lnSpc>
                <a:spcPct val="105000"/>
              </a:lnSpc>
              <a:buNone/>
            </a:pPr>
            <a:r>
              <a:rPr lang="en-US" sz="2600" dirty="0">
                <a:solidFill>
                  <a:srgbClr val="B5AFA0"/>
                </a:solidFill>
                <a:latin typeface="Bookmania" pitchFamily="34" charset="0"/>
                <a:ea typeface="Bookmania" pitchFamily="34" charset="-122"/>
                <a:cs typeface="Bookmania" pitchFamily="34" charset="-120"/>
              </a:rPr>
              <a:t>Everything we build is yours</a:t>
            </a:r>
            <a:endParaRPr lang="en-US" sz="2600" dirty="0"/>
          </a:p>
          <a:p>
            <a:pPr indent="0" marL="0">
              <a:lnSpc>
                <a:spcPct val="105000"/>
              </a:lnSpc>
              <a:buNone/>
            </a:pPr>
            <a:r>
              <a:rPr lang="en-US" sz="2600" dirty="0">
                <a:solidFill>
                  <a:srgbClr val="B5AFA0"/>
                </a:solidFill>
                <a:latin typeface="Bookmania" pitchFamily="34" charset="0"/>
                <a:ea typeface="Bookmania" pitchFamily="34" charset="-122"/>
                <a:cs typeface="Bookmania" pitchFamily="34" charset="-120"/>
              </a:rPr>
              <a:t>the day it goes live — the number,</a:t>
            </a:r>
            <a:endParaRPr lang="en-US" sz="2600" dirty="0"/>
          </a:p>
          <a:p>
            <a:pPr indent="0" marL="0">
              <a:lnSpc>
                <a:spcPct val="105000"/>
              </a:lnSpc>
              <a:buNone/>
            </a:pPr>
            <a:r>
              <a:rPr lang="en-US" sz="2600" dirty="0">
                <a:solidFill>
                  <a:srgbClr val="B5AFA0"/>
                </a:solidFill>
                <a:latin typeface="Bookmania" pitchFamily="34" charset="0"/>
                <a:ea typeface="Bookmania" pitchFamily="34" charset="-122"/>
                <a:cs typeface="Bookmania" pitchFamily="34" charset="-120"/>
              </a:rPr>
              <a:t>the records, the writing behind them.</a:t>
            </a:r>
            <a:endParaRPr lang="en-US" sz="2600" dirty="0"/>
          </a:p>
        </p:txBody>
      </p:sp>
      <p:sp>
        <p:nvSpPr>
          <p:cNvPr id="16" name="Shape 14"/>
          <p:cNvSpPr/>
          <p:nvPr/>
        </p:nvSpPr>
        <p:spPr>
          <a:xfrm>
            <a:off x="10568635" y="6099048"/>
            <a:ext cx="980237" cy="201168"/>
          </a:xfrm>
          <a:prstGeom prst="roundRect">
            <a:avLst>
              <a:gd name="adj" fmla="val 22727"/>
            </a:avLst>
          </a:prstGeom>
          <a:solidFill>
            <a:srgbClr val="000000">
              <a:alpha val="45000"/>
            </a:srgbClr>
          </a:solidFill>
          <a:ln/>
        </p:spPr>
      </p:sp>
      <p:sp>
        <p:nvSpPr>
          <p:cNvPr id="17" name="Text 15"/>
          <p:cNvSpPr txBox="1"/>
          <p:nvPr/>
        </p:nvSpPr>
        <p:spPr>
          <a:xfrm>
            <a:off x="10660075" y="6126480"/>
            <a:ext cx="797357" cy="146304"/>
          </a:xfrm>
          <a:prstGeom prst="rect">
            <a:avLst/>
          </a:prstGeom>
          <a:noFill/>
          <a:ln/>
        </p:spPr>
        <p:txBody>
          <a:bodyPr wrap="square" lIns="0" tIns="0" rIns="0" bIns="0" rtlCol="0" anchor="ctr"/>
          <a:lstStyle/>
          <a:p>
            <a:pPr algn="ctr" indent="0" marL="0">
              <a:buNone/>
            </a:pPr>
            <a:r>
              <a:rPr lang="en-US" sz="700" dirty="0">
                <a:solidFill>
                  <a:srgbClr val="EAE0C8"/>
                </a:solidFill>
                <a:latin typeface="Manrope" pitchFamily="34" charset="0"/>
                <a:ea typeface="Manrope" pitchFamily="34" charset="-122"/>
                <a:cs typeface="Manrope" pitchFamily="34" charset="-120"/>
              </a:rPr>
              <a:t>Decatur, Georgia</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3</a:t>
            </a:r>
            <a:endParaRPr lang="en-US" sz="750" dirty="0"/>
          </a:p>
        </p:txBody>
      </p:sp>
      <p:sp>
        <p:nvSpPr>
          <p:cNvPr id="8" name="Shape 6"/>
          <p:cNvSpPr/>
          <p:nvPr/>
        </p:nvSpPr>
        <p:spPr>
          <a:xfrm>
            <a:off x="6095848" y="237744"/>
            <a:ext cx="6095848" cy="6620256"/>
          </a:xfrm>
          <a:prstGeom prst="rect">
            <a:avLst/>
          </a:prstGeom>
          <a:solidFill>
            <a:srgbClr val="B5AFA0"/>
          </a:solidFill>
          <a:ln/>
        </p:spPr>
      </p:sp>
      <p:sp>
        <p:nvSpPr>
          <p:cNvPr id="9" name="Shape 7"/>
          <p:cNvSpPr/>
          <p:nvPr/>
        </p:nvSpPr>
        <p:spPr>
          <a:xfrm>
            <a:off x="6918808" y="740664"/>
            <a:ext cx="5272888" cy="6117336"/>
          </a:xfrm>
          <a:prstGeom prst="rect">
            <a:avLst/>
          </a:prstGeom>
          <a:solidFill>
            <a:srgbClr val="0F0F10"/>
          </a:solidFill>
          <a:ln/>
        </p:spPr>
      </p:sp>
      <p:sp>
        <p:nvSpPr>
          <p:cNvPr id="10" name="Text 8"/>
          <p:cNvSpPr txBox="1"/>
          <p:nvPr/>
        </p:nvSpPr>
        <p:spPr>
          <a:xfrm>
            <a:off x="508406" y="786384"/>
            <a:ext cx="3657600" cy="457200"/>
          </a:xfrm>
          <a:prstGeom prst="rect">
            <a:avLst/>
          </a:prstGeom>
          <a:noFill/>
          <a:ln/>
        </p:spPr>
        <p:txBody>
          <a:bodyPr wrap="square" lIns="0" tIns="0" rIns="0" bIns="0" rtlCol="0" anchor="t"/>
          <a:lstStyle/>
          <a:p>
            <a:pPr indent="0" marL="0">
              <a:lnSpc>
                <a:spcPct val="105000"/>
              </a:lnSpc>
              <a:buNone/>
            </a:pPr>
            <a:r>
              <a:rPr lang="en-US" sz="2600" dirty="0">
                <a:solidFill>
                  <a:srgbClr val="0F0F10"/>
                </a:solidFill>
                <a:latin typeface="Bookmania" pitchFamily="34" charset="0"/>
                <a:ea typeface="Bookmania" pitchFamily="34" charset="-122"/>
                <a:cs typeface="Bookmania" pitchFamily="34" charset="-120"/>
              </a:rPr>
              <a:t>Contents</a:t>
            </a:r>
            <a:endParaRPr lang="en-US" sz="2600" dirty="0"/>
          </a:p>
        </p:txBody>
      </p:sp>
      <p:sp>
        <p:nvSpPr>
          <p:cNvPr id="11" name="Text 9"/>
          <p:cNvSpPr txBox="1"/>
          <p:nvPr/>
        </p:nvSpPr>
        <p:spPr>
          <a:xfrm>
            <a:off x="508406" y="1655064"/>
            <a:ext cx="3657600" cy="36576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studio</a:t>
            </a:r>
            <a:endParaRPr lang="en-US" sz="1700" dirty="0"/>
          </a:p>
        </p:txBody>
      </p:sp>
      <p:sp>
        <p:nvSpPr>
          <p:cNvPr id="12" name="Text 10"/>
          <p:cNvSpPr txBox="1"/>
          <p:nvPr/>
        </p:nvSpPr>
        <p:spPr>
          <a:xfrm>
            <a:off x="508406" y="2203704"/>
            <a:ext cx="2926080" cy="274320"/>
          </a:xfrm>
          <a:prstGeom prst="rect">
            <a:avLst/>
          </a:prstGeom>
          <a:noFill/>
          <a:ln/>
        </p:spPr>
        <p:txBody>
          <a:bodyPr wrap="square" lIns="0" tIns="0" rIns="0" bIns="0" rtlCol="0" anchor="t"/>
          <a:lstStyle/>
          <a:p>
            <a:pPr indent="0" marL="0">
              <a:buNone/>
            </a:pPr>
            <a:r>
              <a:rPr lang="en-US" sz="1250" dirty="0">
                <a:solidFill>
                  <a:srgbClr val="0F0F10"/>
                </a:solidFill>
                <a:latin typeface="Manrope" pitchFamily="34" charset="0"/>
                <a:ea typeface="Manrope" pitchFamily="34" charset="-122"/>
                <a:cs typeface="Manrope" pitchFamily="34" charset="-120"/>
              </a:rPr>
              <a:t>The name</a:t>
            </a:r>
            <a:endParaRPr lang="en-US" sz="1250" dirty="0"/>
          </a:p>
        </p:txBody>
      </p:sp>
      <p:sp>
        <p:nvSpPr>
          <p:cNvPr id="13" name="Text 11"/>
          <p:cNvSpPr txBox="1"/>
          <p:nvPr/>
        </p:nvSpPr>
        <p:spPr>
          <a:xfrm>
            <a:off x="3525926" y="2203704"/>
            <a:ext cx="457200" cy="274320"/>
          </a:xfrm>
          <a:prstGeom prst="rect">
            <a:avLst/>
          </a:prstGeom>
          <a:noFill/>
          <a:ln/>
        </p:spPr>
        <p:txBody>
          <a:bodyPr wrap="square" lIns="0" tIns="0" rIns="0" bIns="0" rtlCol="0" anchor="t"/>
          <a:lstStyle/>
          <a:p>
            <a:pPr algn="r" indent="0" marL="0">
              <a:buNone/>
            </a:pPr>
            <a:r>
              <a:rPr lang="en-US" sz="1250" dirty="0">
                <a:solidFill>
                  <a:srgbClr val="0F0F10"/>
                </a:solidFill>
                <a:latin typeface="Manrope" pitchFamily="34" charset="0"/>
                <a:ea typeface="Manrope" pitchFamily="34" charset="-122"/>
                <a:cs typeface="Manrope" pitchFamily="34" charset="-120"/>
              </a:rPr>
              <a:t>04</a:t>
            </a:r>
            <a:endParaRPr lang="en-US" sz="1250" dirty="0"/>
          </a:p>
        </p:txBody>
      </p:sp>
      <p:sp>
        <p:nvSpPr>
          <p:cNvPr id="14" name="Text 12"/>
          <p:cNvSpPr txBox="1"/>
          <p:nvPr/>
        </p:nvSpPr>
        <p:spPr>
          <a:xfrm>
            <a:off x="508406" y="2587752"/>
            <a:ext cx="2926080" cy="274320"/>
          </a:xfrm>
          <a:prstGeom prst="rect">
            <a:avLst/>
          </a:prstGeom>
          <a:noFill/>
          <a:ln/>
        </p:spPr>
        <p:txBody>
          <a:bodyPr wrap="square" lIns="0" tIns="0" rIns="0" bIns="0" rtlCol="0" anchor="t"/>
          <a:lstStyle/>
          <a:p>
            <a:pPr indent="0" marL="0">
              <a:buNone/>
            </a:pPr>
            <a:r>
              <a:rPr lang="en-US" sz="1250" dirty="0">
                <a:solidFill>
                  <a:srgbClr val="0F0F10"/>
                </a:solidFill>
                <a:latin typeface="Manrope" pitchFamily="34" charset="0"/>
                <a:ea typeface="Manrope" pitchFamily="34" charset="-122"/>
                <a:cs typeface="Manrope" pitchFamily="34" charset="-120"/>
              </a:rPr>
              <a:t>What we are</a:t>
            </a:r>
            <a:endParaRPr lang="en-US" sz="1250" dirty="0"/>
          </a:p>
        </p:txBody>
      </p:sp>
      <p:sp>
        <p:nvSpPr>
          <p:cNvPr id="15" name="Text 13"/>
          <p:cNvSpPr txBox="1"/>
          <p:nvPr/>
        </p:nvSpPr>
        <p:spPr>
          <a:xfrm>
            <a:off x="3525926" y="2587752"/>
            <a:ext cx="457200" cy="274320"/>
          </a:xfrm>
          <a:prstGeom prst="rect">
            <a:avLst/>
          </a:prstGeom>
          <a:noFill/>
          <a:ln/>
        </p:spPr>
        <p:txBody>
          <a:bodyPr wrap="square" lIns="0" tIns="0" rIns="0" bIns="0" rtlCol="0" anchor="t"/>
          <a:lstStyle/>
          <a:p>
            <a:pPr algn="r" indent="0" marL="0">
              <a:buNone/>
            </a:pPr>
            <a:r>
              <a:rPr lang="en-US" sz="1250" dirty="0">
                <a:solidFill>
                  <a:srgbClr val="0F0F10"/>
                </a:solidFill>
                <a:latin typeface="Manrope" pitchFamily="34" charset="0"/>
                <a:ea typeface="Manrope" pitchFamily="34" charset="-122"/>
                <a:cs typeface="Manrope" pitchFamily="34" charset="-120"/>
              </a:rPr>
              <a:t>05</a:t>
            </a:r>
            <a:endParaRPr lang="en-US" sz="1250" dirty="0"/>
          </a:p>
        </p:txBody>
      </p:sp>
      <p:sp>
        <p:nvSpPr>
          <p:cNvPr id="16" name="Text 14"/>
          <p:cNvSpPr txBox="1"/>
          <p:nvPr/>
        </p:nvSpPr>
        <p:spPr>
          <a:xfrm>
            <a:off x="508406" y="2971800"/>
            <a:ext cx="2926080" cy="274320"/>
          </a:xfrm>
          <a:prstGeom prst="rect">
            <a:avLst/>
          </a:prstGeom>
          <a:noFill/>
          <a:ln/>
        </p:spPr>
        <p:txBody>
          <a:bodyPr wrap="square" lIns="0" tIns="0" rIns="0" bIns="0" rtlCol="0" anchor="t"/>
          <a:lstStyle/>
          <a:p>
            <a:pPr indent="0" marL="0">
              <a:buNone/>
            </a:pPr>
            <a:r>
              <a:rPr lang="en-US" sz="1250" dirty="0">
                <a:solidFill>
                  <a:srgbClr val="0F0F10"/>
                </a:solidFill>
                <a:latin typeface="Manrope" pitchFamily="34" charset="0"/>
                <a:ea typeface="Manrope" pitchFamily="34" charset="-122"/>
                <a:cs typeface="Manrope" pitchFamily="34" charset="-120"/>
              </a:rPr>
              <a:t>Five ways we help</a:t>
            </a:r>
            <a:endParaRPr lang="en-US" sz="1250" dirty="0"/>
          </a:p>
        </p:txBody>
      </p:sp>
      <p:sp>
        <p:nvSpPr>
          <p:cNvPr id="17" name="Text 15"/>
          <p:cNvSpPr txBox="1"/>
          <p:nvPr/>
        </p:nvSpPr>
        <p:spPr>
          <a:xfrm>
            <a:off x="3525926" y="2971800"/>
            <a:ext cx="457200" cy="274320"/>
          </a:xfrm>
          <a:prstGeom prst="rect">
            <a:avLst/>
          </a:prstGeom>
          <a:noFill/>
          <a:ln/>
        </p:spPr>
        <p:txBody>
          <a:bodyPr wrap="square" lIns="0" tIns="0" rIns="0" bIns="0" rtlCol="0" anchor="t"/>
          <a:lstStyle/>
          <a:p>
            <a:pPr algn="r" indent="0" marL="0">
              <a:buNone/>
            </a:pPr>
            <a:r>
              <a:rPr lang="en-US" sz="1250" dirty="0">
                <a:solidFill>
                  <a:srgbClr val="0F0F10"/>
                </a:solidFill>
                <a:latin typeface="Manrope" pitchFamily="34" charset="0"/>
                <a:ea typeface="Manrope" pitchFamily="34" charset="-122"/>
                <a:cs typeface="Manrope" pitchFamily="34" charset="-120"/>
              </a:rPr>
              <a:t>06</a:t>
            </a:r>
            <a:endParaRPr lang="en-US" sz="1250" dirty="0"/>
          </a:p>
        </p:txBody>
      </p:sp>
      <p:sp>
        <p:nvSpPr>
          <p:cNvPr id="18" name="Text 16"/>
          <p:cNvSpPr txBox="1"/>
          <p:nvPr/>
        </p:nvSpPr>
        <p:spPr>
          <a:xfrm>
            <a:off x="508406" y="3355848"/>
            <a:ext cx="2926080" cy="274320"/>
          </a:xfrm>
          <a:prstGeom prst="rect">
            <a:avLst/>
          </a:prstGeom>
          <a:noFill/>
          <a:ln/>
        </p:spPr>
        <p:txBody>
          <a:bodyPr wrap="square" lIns="0" tIns="0" rIns="0" bIns="0" rtlCol="0" anchor="t"/>
          <a:lstStyle/>
          <a:p>
            <a:pPr indent="0" marL="0">
              <a:buNone/>
            </a:pPr>
            <a:r>
              <a:rPr lang="en-US" sz="1250" dirty="0">
                <a:solidFill>
                  <a:srgbClr val="0F0F10"/>
                </a:solidFill>
                <a:latin typeface="Manrope" pitchFamily="34" charset="0"/>
                <a:ea typeface="Manrope" pitchFamily="34" charset="-122"/>
                <a:cs typeface="Manrope" pitchFamily="34" charset="-120"/>
              </a:rPr>
              <a:t>Operations, in full</a:t>
            </a:r>
            <a:endParaRPr lang="en-US" sz="1250" dirty="0"/>
          </a:p>
        </p:txBody>
      </p:sp>
      <p:sp>
        <p:nvSpPr>
          <p:cNvPr id="19" name="Text 17"/>
          <p:cNvSpPr txBox="1"/>
          <p:nvPr/>
        </p:nvSpPr>
        <p:spPr>
          <a:xfrm>
            <a:off x="3525926" y="3355848"/>
            <a:ext cx="457200" cy="274320"/>
          </a:xfrm>
          <a:prstGeom prst="rect">
            <a:avLst/>
          </a:prstGeom>
          <a:noFill/>
          <a:ln/>
        </p:spPr>
        <p:txBody>
          <a:bodyPr wrap="square" lIns="0" tIns="0" rIns="0" bIns="0" rtlCol="0" anchor="t"/>
          <a:lstStyle/>
          <a:p>
            <a:pPr algn="r" indent="0" marL="0">
              <a:buNone/>
            </a:pPr>
            <a:r>
              <a:rPr lang="en-US" sz="1250" dirty="0">
                <a:solidFill>
                  <a:srgbClr val="0F0F10"/>
                </a:solidFill>
                <a:latin typeface="Manrope" pitchFamily="34" charset="0"/>
                <a:ea typeface="Manrope" pitchFamily="34" charset="-122"/>
                <a:cs typeface="Manrope" pitchFamily="34" charset="-120"/>
              </a:rPr>
              <a:t>07</a:t>
            </a:r>
            <a:endParaRPr lang="en-US" sz="1250" dirty="0"/>
          </a:p>
        </p:txBody>
      </p:sp>
      <p:sp>
        <p:nvSpPr>
          <p:cNvPr id="20" name="Text 18"/>
          <p:cNvSpPr txBox="1"/>
          <p:nvPr/>
        </p:nvSpPr>
        <p:spPr>
          <a:xfrm>
            <a:off x="508406" y="3739896"/>
            <a:ext cx="2926080" cy="274320"/>
          </a:xfrm>
          <a:prstGeom prst="rect">
            <a:avLst/>
          </a:prstGeom>
          <a:noFill/>
          <a:ln/>
        </p:spPr>
        <p:txBody>
          <a:bodyPr wrap="square" lIns="0" tIns="0" rIns="0" bIns="0" rtlCol="0" anchor="t"/>
          <a:lstStyle/>
          <a:p>
            <a:pPr indent="0" marL="0">
              <a:buNone/>
            </a:pPr>
            <a:r>
              <a:rPr lang="en-US" sz="1250" dirty="0">
                <a:solidFill>
                  <a:srgbClr val="0F0F10"/>
                </a:solidFill>
                <a:latin typeface="Manrope" pitchFamily="34" charset="0"/>
                <a:ea typeface="Manrope" pitchFamily="34" charset="-122"/>
                <a:cs typeface="Manrope" pitchFamily="34" charset="-120"/>
              </a:rPr>
              <a:t>What you keep</a:t>
            </a:r>
            <a:endParaRPr lang="en-US" sz="1250" dirty="0"/>
          </a:p>
        </p:txBody>
      </p:sp>
      <p:sp>
        <p:nvSpPr>
          <p:cNvPr id="21" name="Text 19"/>
          <p:cNvSpPr txBox="1"/>
          <p:nvPr/>
        </p:nvSpPr>
        <p:spPr>
          <a:xfrm>
            <a:off x="3525926" y="3739896"/>
            <a:ext cx="457200" cy="274320"/>
          </a:xfrm>
          <a:prstGeom prst="rect">
            <a:avLst/>
          </a:prstGeom>
          <a:noFill/>
          <a:ln/>
        </p:spPr>
        <p:txBody>
          <a:bodyPr wrap="square" lIns="0" tIns="0" rIns="0" bIns="0" rtlCol="0" anchor="t"/>
          <a:lstStyle/>
          <a:p>
            <a:pPr algn="r" indent="0" marL="0">
              <a:buNone/>
            </a:pPr>
            <a:r>
              <a:rPr lang="en-US" sz="1250" dirty="0">
                <a:solidFill>
                  <a:srgbClr val="0F0F10"/>
                </a:solidFill>
                <a:latin typeface="Manrope" pitchFamily="34" charset="0"/>
                <a:ea typeface="Manrope" pitchFamily="34" charset="-122"/>
                <a:cs typeface="Manrope" pitchFamily="34" charset="-120"/>
              </a:rPr>
              <a:t>08</a:t>
            </a:r>
            <a:endParaRPr lang="en-US" sz="1250" dirty="0"/>
          </a:p>
        </p:txBody>
      </p:sp>
      <p:sp>
        <p:nvSpPr>
          <p:cNvPr id="22" name="Text 20"/>
          <p:cNvSpPr txBox="1"/>
          <p:nvPr/>
        </p:nvSpPr>
        <p:spPr>
          <a:xfrm>
            <a:off x="7330288" y="1655064"/>
            <a:ext cx="3657600" cy="365760"/>
          </a:xfrm>
          <a:prstGeom prst="rect">
            <a:avLst/>
          </a:prstGeom>
          <a:noFill/>
          <a:ln/>
        </p:spPr>
        <p:txBody>
          <a:bodyPr wrap="square" lIns="0" tIns="0" rIns="0" bIns="0" rtlCol="0" anchor="t"/>
          <a:lstStyle/>
          <a:p>
            <a:pPr indent="0" marL="0">
              <a:lnSpc>
                <a:spcPct val="105000"/>
              </a:lnSpc>
              <a:buNone/>
            </a:pPr>
            <a:r>
              <a:rPr lang="en-US" sz="1700" dirty="0">
                <a:solidFill>
                  <a:srgbClr val="EAE0C8"/>
                </a:solidFill>
                <a:latin typeface="Bookmania" pitchFamily="34" charset="0"/>
                <a:ea typeface="Bookmania" pitchFamily="34" charset="-122"/>
                <a:cs typeface="Bookmania" pitchFamily="34" charset="-120"/>
              </a:rPr>
              <a:t>The work</a:t>
            </a:r>
            <a:endParaRPr lang="en-US" sz="1700" dirty="0"/>
          </a:p>
        </p:txBody>
      </p:sp>
      <p:sp>
        <p:nvSpPr>
          <p:cNvPr id="23" name="Text 21"/>
          <p:cNvSpPr txBox="1"/>
          <p:nvPr/>
        </p:nvSpPr>
        <p:spPr>
          <a:xfrm>
            <a:off x="7330288" y="2203704"/>
            <a:ext cx="2926080" cy="274320"/>
          </a:xfrm>
          <a:prstGeom prst="rect">
            <a:avLst/>
          </a:prstGeom>
          <a:noFill/>
          <a:ln/>
        </p:spPr>
        <p:txBody>
          <a:bodyPr wrap="square" lIns="0" tIns="0" rIns="0" bIns="0" rtlCol="0" anchor="t"/>
          <a:lstStyle/>
          <a:p>
            <a:pPr indent="0" marL="0">
              <a:buNone/>
            </a:pPr>
            <a:r>
              <a:rPr lang="en-US" sz="1250" dirty="0">
                <a:solidFill>
                  <a:srgbClr val="EAE0C8"/>
                </a:solidFill>
                <a:latin typeface="Manrope" pitchFamily="34" charset="0"/>
                <a:ea typeface="Manrope" pitchFamily="34" charset="-122"/>
                <a:cs typeface="Manrope" pitchFamily="34" charset="-120"/>
              </a:rPr>
              <a:t>How it works</a:t>
            </a:r>
            <a:endParaRPr lang="en-US" sz="1250" dirty="0"/>
          </a:p>
        </p:txBody>
      </p:sp>
      <p:sp>
        <p:nvSpPr>
          <p:cNvPr id="24" name="Text 22"/>
          <p:cNvSpPr txBox="1"/>
          <p:nvPr/>
        </p:nvSpPr>
        <p:spPr>
          <a:xfrm>
            <a:off x="10347808" y="2203704"/>
            <a:ext cx="457200" cy="274320"/>
          </a:xfrm>
          <a:prstGeom prst="rect">
            <a:avLst/>
          </a:prstGeom>
          <a:noFill/>
          <a:ln/>
        </p:spPr>
        <p:txBody>
          <a:bodyPr wrap="square" lIns="0" tIns="0" rIns="0" bIns="0" rtlCol="0" anchor="t"/>
          <a:lstStyle/>
          <a:p>
            <a:pPr algn="r" indent="0" marL="0">
              <a:buNone/>
            </a:pPr>
            <a:r>
              <a:rPr lang="en-US" sz="1250" dirty="0">
                <a:solidFill>
                  <a:srgbClr val="EAE0C8"/>
                </a:solidFill>
                <a:latin typeface="Manrope" pitchFamily="34" charset="0"/>
                <a:ea typeface="Manrope" pitchFamily="34" charset="-122"/>
                <a:cs typeface="Manrope" pitchFamily="34" charset="-120"/>
              </a:rPr>
              <a:t>09</a:t>
            </a:r>
            <a:endParaRPr lang="en-US" sz="1250" dirty="0"/>
          </a:p>
        </p:txBody>
      </p:sp>
      <p:sp>
        <p:nvSpPr>
          <p:cNvPr id="25" name="Text 23"/>
          <p:cNvSpPr txBox="1"/>
          <p:nvPr/>
        </p:nvSpPr>
        <p:spPr>
          <a:xfrm>
            <a:off x="7330288" y="2587752"/>
            <a:ext cx="2926080" cy="274320"/>
          </a:xfrm>
          <a:prstGeom prst="rect">
            <a:avLst/>
          </a:prstGeom>
          <a:noFill/>
          <a:ln/>
        </p:spPr>
        <p:txBody>
          <a:bodyPr wrap="square" lIns="0" tIns="0" rIns="0" bIns="0" rtlCol="0" anchor="t"/>
          <a:lstStyle/>
          <a:p>
            <a:pPr indent="0" marL="0">
              <a:buNone/>
            </a:pPr>
            <a:r>
              <a:rPr lang="en-US" sz="1250" dirty="0">
                <a:solidFill>
                  <a:srgbClr val="EAE0C8"/>
                </a:solidFill>
                <a:latin typeface="Manrope" pitchFamily="34" charset="0"/>
                <a:ea typeface="Manrope" pitchFamily="34" charset="-122"/>
                <a:cs typeface="Manrope" pitchFamily="34" charset="-120"/>
              </a:rPr>
              <a:t>Our promise</a:t>
            </a:r>
            <a:endParaRPr lang="en-US" sz="1250" dirty="0"/>
          </a:p>
        </p:txBody>
      </p:sp>
      <p:sp>
        <p:nvSpPr>
          <p:cNvPr id="26" name="Text 24"/>
          <p:cNvSpPr txBox="1"/>
          <p:nvPr/>
        </p:nvSpPr>
        <p:spPr>
          <a:xfrm>
            <a:off x="10347808" y="2587752"/>
            <a:ext cx="457200" cy="274320"/>
          </a:xfrm>
          <a:prstGeom prst="rect">
            <a:avLst/>
          </a:prstGeom>
          <a:noFill/>
          <a:ln/>
        </p:spPr>
        <p:txBody>
          <a:bodyPr wrap="square" lIns="0" tIns="0" rIns="0" bIns="0" rtlCol="0" anchor="t"/>
          <a:lstStyle/>
          <a:p>
            <a:pPr algn="r" indent="0" marL="0">
              <a:buNone/>
            </a:pPr>
            <a:r>
              <a:rPr lang="en-US" sz="1250" dirty="0">
                <a:solidFill>
                  <a:srgbClr val="EAE0C8"/>
                </a:solidFill>
                <a:latin typeface="Manrope" pitchFamily="34" charset="0"/>
                <a:ea typeface="Manrope" pitchFamily="34" charset="-122"/>
                <a:cs typeface="Manrope" pitchFamily="34" charset="-120"/>
              </a:rPr>
              <a:t>10</a:t>
            </a:r>
            <a:endParaRPr lang="en-US" sz="1250" dirty="0"/>
          </a:p>
        </p:txBody>
      </p:sp>
      <p:sp>
        <p:nvSpPr>
          <p:cNvPr id="27" name="Text 25"/>
          <p:cNvSpPr txBox="1"/>
          <p:nvPr/>
        </p:nvSpPr>
        <p:spPr>
          <a:xfrm>
            <a:off x="7330288" y="2971800"/>
            <a:ext cx="2926080" cy="274320"/>
          </a:xfrm>
          <a:prstGeom prst="rect">
            <a:avLst/>
          </a:prstGeom>
          <a:noFill/>
          <a:ln/>
        </p:spPr>
        <p:txBody>
          <a:bodyPr wrap="square" lIns="0" tIns="0" rIns="0" bIns="0" rtlCol="0" anchor="t"/>
          <a:lstStyle/>
          <a:p>
            <a:pPr indent="0" marL="0">
              <a:buNone/>
            </a:pPr>
            <a:r>
              <a:rPr lang="en-US" sz="1250" dirty="0">
                <a:solidFill>
                  <a:srgbClr val="EAE0C8"/>
                </a:solidFill>
                <a:latin typeface="Manrope" pitchFamily="34" charset="0"/>
                <a:ea typeface="Manrope" pitchFamily="34" charset="-122"/>
                <a:cs typeface="Manrope" pitchFamily="34" charset="-120"/>
              </a:rPr>
              <a:t>What stands behind it</a:t>
            </a:r>
            <a:endParaRPr lang="en-US" sz="1250" dirty="0"/>
          </a:p>
        </p:txBody>
      </p:sp>
      <p:sp>
        <p:nvSpPr>
          <p:cNvPr id="28" name="Text 26"/>
          <p:cNvSpPr txBox="1"/>
          <p:nvPr/>
        </p:nvSpPr>
        <p:spPr>
          <a:xfrm>
            <a:off x="10347808" y="2971800"/>
            <a:ext cx="457200" cy="274320"/>
          </a:xfrm>
          <a:prstGeom prst="rect">
            <a:avLst/>
          </a:prstGeom>
          <a:noFill/>
          <a:ln/>
        </p:spPr>
        <p:txBody>
          <a:bodyPr wrap="square" lIns="0" tIns="0" rIns="0" bIns="0" rtlCol="0" anchor="t"/>
          <a:lstStyle/>
          <a:p>
            <a:pPr algn="r" indent="0" marL="0">
              <a:buNone/>
            </a:pPr>
            <a:r>
              <a:rPr lang="en-US" sz="1250" dirty="0">
                <a:solidFill>
                  <a:srgbClr val="EAE0C8"/>
                </a:solidFill>
                <a:latin typeface="Manrope" pitchFamily="34" charset="0"/>
                <a:ea typeface="Manrope" pitchFamily="34" charset="-122"/>
                <a:cs typeface="Manrope" pitchFamily="34" charset="-120"/>
              </a:rPr>
              <a:t>11</a:t>
            </a:r>
            <a:endParaRPr lang="en-US" sz="1250" dirty="0"/>
          </a:p>
        </p:txBody>
      </p:sp>
      <p:sp>
        <p:nvSpPr>
          <p:cNvPr id="29" name="Text 27"/>
          <p:cNvSpPr txBox="1"/>
          <p:nvPr/>
        </p:nvSpPr>
        <p:spPr>
          <a:xfrm>
            <a:off x="7330288" y="3355848"/>
            <a:ext cx="2926080" cy="274320"/>
          </a:xfrm>
          <a:prstGeom prst="rect">
            <a:avLst/>
          </a:prstGeom>
          <a:noFill/>
          <a:ln/>
        </p:spPr>
        <p:txBody>
          <a:bodyPr wrap="square" lIns="0" tIns="0" rIns="0" bIns="0" rtlCol="0" anchor="t"/>
          <a:lstStyle/>
          <a:p>
            <a:pPr indent="0" marL="0">
              <a:buNone/>
            </a:pPr>
            <a:r>
              <a:rPr lang="en-US" sz="1250" dirty="0">
                <a:solidFill>
                  <a:srgbClr val="EAE0C8"/>
                </a:solidFill>
                <a:latin typeface="Manrope" pitchFamily="34" charset="0"/>
                <a:ea typeface="Manrope" pitchFamily="34" charset="-122"/>
                <a:cs typeface="Manrope" pitchFamily="34" charset="-120"/>
              </a:rPr>
              <a:t>The work</a:t>
            </a:r>
            <a:endParaRPr lang="en-US" sz="1250" dirty="0"/>
          </a:p>
        </p:txBody>
      </p:sp>
      <p:sp>
        <p:nvSpPr>
          <p:cNvPr id="30" name="Text 28"/>
          <p:cNvSpPr txBox="1"/>
          <p:nvPr/>
        </p:nvSpPr>
        <p:spPr>
          <a:xfrm>
            <a:off x="10347808" y="3355848"/>
            <a:ext cx="457200" cy="274320"/>
          </a:xfrm>
          <a:prstGeom prst="rect">
            <a:avLst/>
          </a:prstGeom>
          <a:noFill/>
          <a:ln/>
        </p:spPr>
        <p:txBody>
          <a:bodyPr wrap="square" lIns="0" tIns="0" rIns="0" bIns="0" rtlCol="0" anchor="t"/>
          <a:lstStyle/>
          <a:p>
            <a:pPr algn="r" indent="0" marL="0">
              <a:buNone/>
            </a:pPr>
            <a:r>
              <a:rPr lang="en-US" sz="1250" dirty="0">
                <a:solidFill>
                  <a:srgbClr val="EAE0C8"/>
                </a:solidFill>
                <a:latin typeface="Manrope" pitchFamily="34" charset="0"/>
                <a:ea typeface="Manrope" pitchFamily="34" charset="-122"/>
                <a:cs typeface="Manrope" pitchFamily="34" charset="-120"/>
              </a:rPr>
              <a:t>12</a:t>
            </a:r>
            <a:endParaRPr lang="en-US" sz="1250" dirty="0"/>
          </a:p>
        </p:txBody>
      </p:sp>
      <p:sp>
        <p:nvSpPr>
          <p:cNvPr id="31" name="Text 29"/>
          <p:cNvSpPr txBox="1"/>
          <p:nvPr/>
        </p:nvSpPr>
        <p:spPr>
          <a:xfrm>
            <a:off x="7330288" y="3739896"/>
            <a:ext cx="2926080" cy="274320"/>
          </a:xfrm>
          <a:prstGeom prst="rect">
            <a:avLst/>
          </a:prstGeom>
          <a:noFill/>
          <a:ln/>
        </p:spPr>
        <p:txBody>
          <a:bodyPr wrap="square" lIns="0" tIns="0" rIns="0" bIns="0" rtlCol="0" anchor="t"/>
          <a:lstStyle/>
          <a:p>
            <a:pPr indent="0" marL="0">
              <a:buNone/>
            </a:pPr>
            <a:r>
              <a:rPr lang="en-US" sz="1250" dirty="0">
                <a:solidFill>
                  <a:srgbClr val="EAE0C8"/>
                </a:solidFill>
                <a:latin typeface="Manrope" pitchFamily="34" charset="0"/>
                <a:ea typeface="Manrope" pitchFamily="34" charset="-122"/>
                <a:cs typeface="Manrope" pitchFamily="34" charset="-120"/>
              </a:rPr>
              <a:t>The first call</a:t>
            </a:r>
            <a:endParaRPr lang="en-US" sz="1250" dirty="0"/>
          </a:p>
        </p:txBody>
      </p:sp>
      <p:sp>
        <p:nvSpPr>
          <p:cNvPr id="32" name="Text 30"/>
          <p:cNvSpPr txBox="1"/>
          <p:nvPr/>
        </p:nvSpPr>
        <p:spPr>
          <a:xfrm>
            <a:off x="10347808" y="3739896"/>
            <a:ext cx="457200" cy="274320"/>
          </a:xfrm>
          <a:prstGeom prst="rect">
            <a:avLst/>
          </a:prstGeom>
          <a:noFill/>
          <a:ln/>
        </p:spPr>
        <p:txBody>
          <a:bodyPr wrap="square" lIns="0" tIns="0" rIns="0" bIns="0" rtlCol="0" anchor="t"/>
          <a:lstStyle/>
          <a:p>
            <a:pPr algn="r" indent="0" marL="0">
              <a:buNone/>
            </a:pPr>
            <a:r>
              <a:rPr lang="en-US" sz="1250" dirty="0">
                <a:solidFill>
                  <a:srgbClr val="EAE0C8"/>
                </a:solidFill>
                <a:latin typeface="Manrope" pitchFamily="34" charset="0"/>
                <a:ea typeface="Manrope" pitchFamily="34" charset="-122"/>
                <a:cs typeface="Manrope" pitchFamily="34" charset="-120"/>
              </a:rPr>
              <a:t>13</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4</a:t>
            </a:r>
            <a:endParaRPr lang="en-US" sz="750" dirty="0"/>
          </a:p>
        </p:txBody>
      </p:sp>
      <p:sp>
        <p:nvSpPr>
          <p:cNvPr id="8" name="Text 6"/>
          <p:cNvSpPr txBox="1"/>
          <p:nvPr/>
        </p:nvSpPr>
        <p:spPr>
          <a:xfrm>
            <a:off x="508406" y="731520"/>
            <a:ext cx="4937760" cy="128016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The Name</a:t>
            </a:r>
            <a:endParaRPr lang="en-US" sz="4300" dirty="0"/>
          </a:p>
        </p:txBody>
      </p:sp>
      <p:sp>
        <p:nvSpPr>
          <p:cNvPr id="9" name="Text 7"/>
          <p:cNvSpPr txBox="1"/>
          <p:nvPr/>
        </p:nvSpPr>
        <p:spPr>
          <a:xfrm>
            <a:off x="508406" y="2386584"/>
            <a:ext cx="3474720" cy="310896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Atlanta began where a railway stopped and grew where five streets met. That intersection is the point every address in the city counts from.</a:t>
            </a:r>
            <a:endParaRPr lang="en-US" sz="950" dirty="0"/>
          </a:p>
          <a:p>
            <a:pPr indent="0" marL="0">
              <a:lnSpc>
                <a:spcPct val="168000"/>
              </a:lnSpc>
              <a:buNone/>
            </a:pPr>
            <a:endParaRPr lang="en-US" sz="950" dirty="0"/>
          </a:p>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The station beneath it is the one place where every line meets. Whoever you are and wherever you are going, if you need to change direction in this city, you do it here.</a:t>
            </a:r>
            <a:endParaRPr lang="en-US" sz="950" dirty="0"/>
          </a:p>
          <a:p>
            <a:pPr indent="0" marL="0">
              <a:lnSpc>
                <a:spcPct val="168000"/>
              </a:lnSpc>
              <a:buNone/>
            </a:pPr>
            <a:endParaRPr lang="en-US" sz="950" dirty="0"/>
          </a:p>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And two miles east, the neighbourhood that borrowed its name was made into the most creative corner of the city by independent owners, one door at a time. No brand made it. Independent people made it by being unmistakably themselves, and the city came to them.</a:t>
            </a:r>
            <a:endParaRPr lang="en-US" sz="950" dirty="0"/>
          </a:p>
        </p:txBody>
      </p:sp>
      <p:sp>
        <p:nvSpPr>
          <p:cNvPr id="10" name="Text 8"/>
          <p:cNvSpPr txBox="1"/>
          <p:nvPr/>
        </p:nvSpPr>
        <p:spPr>
          <a:xfrm>
            <a:off x="4364431" y="768096"/>
            <a:ext cx="3474720" cy="1005840"/>
          </a:xfrm>
          <a:prstGeom prst="rect">
            <a:avLst/>
          </a:prstGeom>
          <a:noFill/>
          <a:ln/>
        </p:spPr>
        <p:txBody>
          <a:bodyPr wrap="square" lIns="0" tIns="0" rIns="0" bIns="0" rtlCol="0" anchor="t"/>
          <a:lstStyle/>
          <a:p>
            <a:pP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We took the name for all three: the point everything counts from, five disciplines in one place and the conviction that a business unmistakably itself will bring the city to its door.</a:t>
            </a:r>
            <a:endParaRPr lang="en-US" sz="1250" dirty="0"/>
          </a:p>
        </p:txBody>
      </p:sp>
      <p:sp>
        <p:nvSpPr>
          <p:cNvPr id="11" name="Text 9"/>
          <p:cNvSpPr txBox="1"/>
          <p:nvPr/>
        </p:nvSpPr>
        <p:spPr>
          <a:xfrm>
            <a:off x="4364431" y="1975104"/>
            <a:ext cx="3474720" cy="146304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Five Points Digital Studio was founded on 5 May 2021 — the fifth day of the fifth month — at the far end of Decatur Street, the road that leaves the intersection heading east.</a:t>
            </a:r>
            <a:endParaRPr lang="en-US" sz="950" dirty="0"/>
          </a:p>
          <a:p>
            <a:pPr indent="0" marL="0">
              <a:lnSpc>
                <a:spcPct val="168000"/>
              </a:lnSpc>
              <a:buNone/>
            </a:pPr>
            <a:endParaRPr lang="en-US" sz="950" dirty="0"/>
          </a:p>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That is the whole of our trade, and it is still best done on a porch, by the people who live there.</a:t>
            </a:r>
            <a:endParaRPr lang="en-US" sz="950" dirty="0"/>
          </a:p>
        </p:txBody>
      </p:sp>
      <p:sp>
        <p:nvSpPr>
          <p:cNvPr id="12" name="Shape 10"/>
          <p:cNvSpPr/>
          <p:nvPr/>
        </p:nvSpPr>
        <p:spPr>
          <a:xfrm>
            <a:off x="4364431" y="3666744"/>
            <a:ext cx="3474720" cy="1828800"/>
          </a:xfrm>
          <a:prstGeom prst="roundRect">
            <a:avLst>
              <a:gd name="adj" fmla="val 4500"/>
            </a:avLst>
          </a:prstGeom>
          <a:solidFill>
            <a:srgbClr val="EDEAE3"/>
          </a:solidFill>
          <a:ln w="9525">
            <a:solidFill>
              <a:srgbClr val="D8D2C4"/>
            </a:solidFill>
            <a:prstDash val="solid"/>
          </a:ln>
        </p:spPr>
      </p:sp>
      <p:sp>
        <p:nvSpPr>
          <p:cNvPr id="13" name="Text 11"/>
          <p:cNvSpPr txBox="1"/>
          <p:nvPr/>
        </p:nvSpPr>
        <p:spPr>
          <a:xfrm>
            <a:off x="4364431" y="4434840"/>
            <a:ext cx="34747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FIVE POINTS STATION</a:t>
            </a:r>
            <a:endParaRPr lang="en-US" sz="700" dirty="0"/>
          </a:p>
        </p:txBody>
      </p:sp>
      <p:sp>
        <p:nvSpPr>
          <p:cNvPr id="14" name="Shape 12"/>
          <p:cNvSpPr/>
          <p:nvPr/>
        </p:nvSpPr>
        <p:spPr>
          <a:xfrm>
            <a:off x="8220456" y="768096"/>
            <a:ext cx="3474720" cy="2377440"/>
          </a:xfrm>
          <a:prstGeom prst="roundRect">
            <a:avLst>
              <a:gd name="adj" fmla="val 3462"/>
            </a:avLst>
          </a:prstGeom>
          <a:solidFill>
            <a:srgbClr val="EDEAE3"/>
          </a:solidFill>
          <a:ln w="9525">
            <a:solidFill>
              <a:srgbClr val="D8D2C4"/>
            </a:solidFill>
            <a:prstDash val="solid"/>
          </a:ln>
        </p:spPr>
      </p:sp>
      <p:sp>
        <p:nvSpPr>
          <p:cNvPr id="15" name="Text 13"/>
          <p:cNvSpPr txBox="1"/>
          <p:nvPr/>
        </p:nvSpPr>
        <p:spPr>
          <a:xfrm>
            <a:off x="8220456" y="1810512"/>
            <a:ext cx="34747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THE DISTRICT, ONE DOOR AT A TIME</a:t>
            </a:r>
            <a:endParaRPr lang="en-US" sz="700" dirty="0"/>
          </a:p>
        </p:txBody>
      </p:sp>
      <p:sp>
        <p:nvSpPr>
          <p:cNvPr id="16" name="Text 14"/>
          <p:cNvSpPr txBox="1"/>
          <p:nvPr/>
        </p:nvSpPr>
        <p:spPr>
          <a:xfrm>
            <a:off x="8220456" y="3392424"/>
            <a:ext cx="3474720" cy="237744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The first grocery in Atlanta opened there in 1845, the first post office in 1846, the first mayor was elected there in 1848. A block north, Auburn Avenue sets off east — the street John Wesley Dobbs named, and which Fortune in 1956 called the wealthiest Black street in the world.</a:t>
            </a:r>
            <a:endParaRPr lang="en-US" sz="950" dirty="0"/>
          </a:p>
          <a:p>
            <a:pPr indent="0" marL="0">
              <a:lnSpc>
                <a:spcPct val="168000"/>
              </a:lnSpc>
              <a:buNone/>
            </a:pPr>
            <a:endParaRPr lang="en-US" sz="950" dirty="0"/>
          </a:p>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In 1928 Atlanta raised those streets a storey and a half on viaducts, and the merchants moved upstairs and kept trading on top of their own ground floor. The original storefronts are still down there. This is a city that has always built on what it already had.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5</a:t>
            </a:r>
            <a:endParaRPr lang="en-US" sz="750" dirty="0"/>
          </a:p>
        </p:txBody>
      </p:sp>
      <p:sp>
        <p:nvSpPr>
          <p:cNvPr id="8" name="Text 6"/>
          <p:cNvSpPr txBox="1"/>
          <p:nvPr/>
        </p:nvSpPr>
        <p:spPr>
          <a:xfrm>
            <a:off x="508406" y="731520"/>
            <a:ext cx="7498080" cy="201168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A marketing consultancy</a:t>
            </a:r>
            <a:endParaRPr lang="en-US" sz="4300" dirty="0"/>
          </a:p>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that builds the systems</a:t>
            </a:r>
            <a:endParaRPr lang="en-US" sz="4300" dirty="0"/>
          </a:p>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an owner keeps.</a:t>
            </a:r>
            <a:endParaRPr lang="en-US" sz="4300" dirty="0"/>
          </a:p>
        </p:txBody>
      </p:sp>
      <p:sp>
        <p:nvSpPr>
          <p:cNvPr id="9" name="Text 7"/>
          <p:cNvSpPr txBox="1"/>
          <p:nvPr/>
        </p:nvSpPr>
        <p:spPr>
          <a:xfrm>
            <a:off x="8220456" y="804672"/>
            <a:ext cx="3474720" cy="914400"/>
          </a:xfrm>
          <a:prstGeom prst="rect">
            <a:avLst/>
          </a:prstGeom>
          <a:noFill/>
          <a:ln/>
        </p:spPr>
        <p:txBody>
          <a:bodyPr wrap="square" lIns="0" tIns="0" rIns="0" bIns="0" rtlCol="0" anchor="t"/>
          <a:lstStyle/>
          <a:p>
            <a:pPr algn="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Five disciplines under one roof, AI-first — made for the owner-operator who would rather run the work than chase it.</a:t>
            </a:r>
            <a:endParaRPr lang="en-US" sz="1250" dirty="0"/>
          </a:p>
        </p:txBody>
      </p:sp>
      <p:sp>
        <p:nvSpPr>
          <p:cNvPr id="10" name="Shape 8"/>
          <p:cNvSpPr/>
          <p:nvPr/>
        </p:nvSpPr>
        <p:spPr>
          <a:xfrm>
            <a:off x="508406" y="3118104"/>
            <a:ext cx="11186770" cy="0"/>
          </a:xfrm>
          <a:prstGeom prst="line">
            <a:avLst/>
          </a:prstGeom>
          <a:noFill/>
          <a:ln w="9525">
            <a:solidFill>
              <a:srgbClr val="BDB4A2"/>
            </a:solidFill>
            <a:prstDash val="solid"/>
          </a:ln>
        </p:spPr>
      </p:sp>
      <p:sp>
        <p:nvSpPr>
          <p:cNvPr id="11" name="Text 9"/>
          <p:cNvSpPr txBox="1"/>
          <p:nvPr/>
        </p:nvSpPr>
        <p:spPr>
          <a:xfrm>
            <a:off x="508406" y="3346704"/>
            <a:ext cx="91440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01</a:t>
            </a:r>
            <a:endParaRPr lang="en-US" sz="700" dirty="0"/>
          </a:p>
        </p:txBody>
      </p:sp>
      <p:sp>
        <p:nvSpPr>
          <p:cNvPr id="12" name="Text 10"/>
          <p:cNvSpPr txBox="1"/>
          <p:nvPr/>
        </p:nvSpPr>
        <p:spPr>
          <a:xfrm>
            <a:off x="508406" y="3621024"/>
            <a:ext cx="3474720" cy="36576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Eighty</a:t>
            </a:r>
            <a:endParaRPr lang="en-US" sz="1700" dirty="0"/>
          </a:p>
        </p:txBody>
      </p:sp>
      <p:sp>
        <p:nvSpPr>
          <p:cNvPr id="13" name="Text 11"/>
          <p:cNvSpPr txBox="1"/>
          <p:nvPr/>
        </p:nvSpPr>
        <p:spPr>
          <a:xfrm>
            <a:off x="508406" y="4096512"/>
            <a:ext cx="3474720" cy="164592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A marketing consultancy whose systems the owner keeps. Everything we build is yours the day it goes live: the number, the records, the writing behind them, the accounts in your name.</a:t>
            </a:r>
            <a:endParaRPr lang="en-US" sz="950" dirty="0"/>
          </a:p>
        </p:txBody>
      </p:sp>
      <p:sp>
        <p:nvSpPr>
          <p:cNvPr id="14" name="Text 12"/>
          <p:cNvSpPr txBox="1"/>
          <p:nvPr/>
        </p:nvSpPr>
        <p:spPr>
          <a:xfrm>
            <a:off x="4364431" y="3346704"/>
            <a:ext cx="91440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02</a:t>
            </a:r>
            <a:endParaRPr lang="en-US" sz="700" dirty="0"/>
          </a:p>
        </p:txBody>
      </p:sp>
      <p:sp>
        <p:nvSpPr>
          <p:cNvPr id="15" name="Text 13"/>
          <p:cNvSpPr txBox="1"/>
          <p:nvPr/>
        </p:nvSpPr>
        <p:spPr>
          <a:xfrm>
            <a:off x="4364431" y="3621024"/>
            <a:ext cx="3474720" cy="36576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Twenty</a:t>
            </a:r>
            <a:endParaRPr lang="en-US" sz="1700" dirty="0"/>
          </a:p>
        </p:txBody>
      </p:sp>
      <p:sp>
        <p:nvSpPr>
          <p:cNvPr id="16" name="Text 14"/>
          <p:cNvSpPr txBox="1"/>
          <p:nvPr/>
        </p:nvSpPr>
        <p:spPr>
          <a:xfrm>
            <a:off x="4364431" y="4096512"/>
            <a:ext cx="3474720" cy="164592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AI-first, on five pillars. The tools became cheap enough for a two-van company to own outright, and we build with them rather than renting them back to you.</a:t>
            </a:r>
            <a:endParaRPr lang="en-US" sz="950" dirty="0"/>
          </a:p>
        </p:txBody>
      </p:sp>
      <p:sp>
        <p:nvSpPr>
          <p:cNvPr id="17" name="Text 15"/>
          <p:cNvSpPr txBox="1"/>
          <p:nvPr/>
        </p:nvSpPr>
        <p:spPr>
          <a:xfrm>
            <a:off x="8220456" y="3346704"/>
            <a:ext cx="91440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03</a:t>
            </a:r>
            <a:endParaRPr lang="en-US" sz="700" dirty="0"/>
          </a:p>
        </p:txBody>
      </p:sp>
      <p:sp>
        <p:nvSpPr>
          <p:cNvPr id="18" name="Text 16"/>
          <p:cNvSpPr txBox="1"/>
          <p:nvPr/>
        </p:nvSpPr>
        <p:spPr>
          <a:xfrm>
            <a:off x="8220456" y="3621024"/>
            <a:ext cx="3474720" cy="36576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For whom</a:t>
            </a:r>
            <a:endParaRPr lang="en-US" sz="1700" dirty="0"/>
          </a:p>
        </p:txBody>
      </p:sp>
      <p:sp>
        <p:nvSpPr>
          <p:cNvPr id="19" name="Text 17"/>
          <p:cNvSpPr txBox="1"/>
          <p:nvPr/>
        </p:nvSpPr>
        <p:spPr>
          <a:xfrm>
            <a:off x="8220456" y="4096512"/>
            <a:ext cx="3474720" cy="164592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Owner-operators with two to twenty on the crew, who still answer the phone some days and buy with their own money. The trades are the first wing of the house, not the whole of it.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5AFA0"/>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C3BDAF"/>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6</a:t>
            </a:r>
            <a:endParaRPr lang="en-US" sz="750" dirty="0"/>
          </a:p>
        </p:txBody>
      </p:sp>
      <p:sp>
        <p:nvSpPr>
          <p:cNvPr id="8" name="Text 6"/>
          <p:cNvSpPr txBox="1"/>
          <p:nvPr/>
        </p:nvSpPr>
        <p:spPr>
          <a:xfrm>
            <a:off x="508406" y="731520"/>
            <a:ext cx="4023360" cy="146304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Five ways</a:t>
            </a:r>
            <a:endParaRPr lang="en-US" sz="4300" dirty="0"/>
          </a:p>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we help</a:t>
            </a:r>
            <a:endParaRPr lang="en-US" sz="4300" dirty="0"/>
          </a:p>
        </p:txBody>
      </p:sp>
      <p:sp>
        <p:nvSpPr>
          <p:cNvPr id="9" name="Text 7"/>
          <p:cNvSpPr txBox="1"/>
          <p:nvPr/>
        </p:nvSpPr>
        <p:spPr>
          <a:xfrm>
            <a:off x="4364431" y="804672"/>
            <a:ext cx="3474720" cy="914400"/>
          </a:xfrm>
          <a:prstGeom prst="rect">
            <a:avLst/>
          </a:prstGeom>
          <a:noFill/>
          <a:ln/>
        </p:spPr>
        <p:txBody>
          <a:bodyPr wrap="square" lIns="0" tIns="0" rIns="0" bIns="0" rtlCol="0" anchor="t"/>
          <a:lstStyle/>
          <a:p>
            <a:pP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Five pillars, for five points. Every one of them is built for your company and priced on the first call, from your own numbers.</a:t>
            </a:r>
            <a:endParaRPr lang="en-US" sz="1250" dirty="0"/>
          </a:p>
        </p:txBody>
      </p:sp>
      <p:sp>
        <p:nvSpPr>
          <p:cNvPr id="10" name="Shape 8"/>
          <p:cNvSpPr/>
          <p:nvPr/>
        </p:nvSpPr>
        <p:spPr>
          <a:xfrm>
            <a:off x="508406" y="2569464"/>
            <a:ext cx="11186770" cy="0"/>
          </a:xfrm>
          <a:prstGeom prst="line">
            <a:avLst/>
          </a:prstGeom>
          <a:noFill/>
          <a:ln w="9525">
            <a:solidFill>
              <a:srgbClr val="9A9484"/>
            </a:solidFill>
            <a:prstDash val="solid"/>
          </a:ln>
        </p:spPr>
      </p:sp>
      <p:sp>
        <p:nvSpPr>
          <p:cNvPr id="11" name="Text 9"/>
          <p:cNvSpPr txBox="1"/>
          <p:nvPr/>
        </p:nvSpPr>
        <p:spPr>
          <a:xfrm>
            <a:off x="508406" y="2752344"/>
            <a:ext cx="548640"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01</a:t>
            </a:r>
            <a:endParaRPr lang="en-US" sz="700" dirty="0"/>
          </a:p>
        </p:txBody>
      </p:sp>
      <p:sp>
        <p:nvSpPr>
          <p:cNvPr id="12" name="Text 10"/>
          <p:cNvSpPr txBox="1"/>
          <p:nvPr/>
        </p:nvSpPr>
        <p:spPr>
          <a:xfrm>
            <a:off x="1148486" y="2697480"/>
            <a:ext cx="274320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Operations</a:t>
            </a:r>
            <a:endParaRPr lang="en-US" sz="1700" dirty="0"/>
          </a:p>
        </p:txBody>
      </p:sp>
      <p:sp>
        <p:nvSpPr>
          <p:cNvPr id="13" name="Text 11"/>
          <p:cNvSpPr txBox="1"/>
          <p:nvPr/>
        </p:nvSpPr>
        <p:spPr>
          <a:xfrm>
            <a:off x="4364431" y="2715768"/>
            <a:ext cx="7330745" cy="566928"/>
          </a:xfrm>
          <a:prstGeom prst="rect">
            <a:avLst/>
          </a:prstGeom>
          <a:noFill/>
          <a:ln/>
        </p:spPr>
        <p:txBody>
          <a:bodyPr wrap="square" lIns="0" tIns="0" rIns="0" bIns="0" rtlCol="0" anchor="t"/>
          <a:lstStyle/>
          <a:p>
            <a:pPr indent="0" marL="0">
              <a:lnSpc>
                <a:spcPct val="168000"/>
              </a:lnSpc>
              <a:buNone/>
            </a:pPr>
            <a:r>
              <a:rPr lang="en-US" sz="950" dirty="0">
                <a:solidFill>
                  <a:srgbClr val="3D3830"/>
                </a:solidFill>
                <a:latin typeface="Manrope" pitchFamily="34" charset="0"/>
                <a:ea typeface="Manrope" pitchFamily="34" charset="-122"/>
                <a:cs typeface="Manrope" pitchFamily="34" charset="-120"/>
              </a:rPr>
              <a:t>The systems that run the business while the owner works — the phone answered at any hour, the lead texted back in a minute, the old list called in your name.</a:t>
            </a:r>
            <a:endParaRPr lang="en-US" sz="950" dirty="0"/>
          </a:p>
        </p:txBody>
      </p:sp>
      <p:sp>
        <p:nvSpPr>
          <p:cNvPr id="14" name="Shape 12"/>
          <p:cNvSpPr/>
          <p:nvPr/>
        </p:nvSpPr>
        <p:spPr>
          <a:xfrm>
            <a:off x="508406" y="3410712"/>
            <a:ext cx="11186770" cy="0"/>
          </a:xfrm>
          <a:prstGeom prst="line">
            <a:avLst/>
          </a:prstGeom>
          <a:noFill/>
          <a:ln w="9525">
            <a:solidFill>
              <a:srgbClr val="9A9484"/>
            </a:solidFill>
            <a:prstDash val="solid"/>
          </a:ln>
        </p:spPr>
      </p:sp>
      <p:sp>
        <p:nvSpPr>
          <p:cNvPr id="15" name="Text 13"/>
          <p:cNvSpPr txBox="1"/>
          <p:nvPr/>
        </p:nvSpPr>
        <p:spPr>
          <a:xfrm>
            <a:off x="508406" y="3593592"/>
            <a:ext cx="548640"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02</a:t>
            </a:r>
            <a:endParaRPr lang="en-US" sz="700" dirty="0"/>
          </a:p>
        </p:txBody>
      </p:sp>
      <p:sp>
        <p:nvSpPr>
          <p:cNvPr id="16" name="Text 14"/>
          <p:cNvSpPr txBox="1"/>
          <p:nvPr/>
        </p:nvSpPr>
        <p:spPr>
          <a:xfrm>
            <a:off x="1148486" y="3538728"/>
            <a:ext cx="274320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Development</a:t>
            </a:r>
            <a:endParaRPr lang="en-US" sz="1700" dirty="0"/>
          </a:p>
        </p:txBody>
      </p:sp>
      <p:sp>
        <p:nvSpPr>
          <p:cNvPr id="17" name="Text 15"/>
          <p:cNvSpPr txBox="1"/>
          <p:nvPr/>
        </p:nvSpPr>
        <p:spPr>
          <a:xfrm>
            <a:off x="4364431" y="3557016"/>
            <a:ext cx="7330745" cy="566928"/>
          </a:xfrm>
          <a:prstGeom prst="rect">
            <a:avLst/>
          </a:prstGeom>
          <a:noFill/>
          <a:ln/>
        </p:spPr>
        <p:txBody>
          <a:bodyPr wrap="square" lIns="0" tIns="0" rIns="0" bIns="0" rtlCol="0" anchor="t"/>
          <a:lstStyle/>
          <a:p>
            <a:pPr indent="0" marL="0">
              <a:lnSpc>
                <a:spcPct val="168000"/>
              </a:lnSpc>
              <a:buNone/>
            </a:pPr>
            <a:r>
              <a:rPr lang="en-US" sz="950" dirty="0">
                <a:solidFill>
                  <a:srgbClr val="3D3830"/>
                </a:solidFill>
                <a:latin typeface="Manrope" pitchFamily="34" charset="0"/>
                <a:ea typeface="Manrope" pitchFamily="34" charset="-122"/>
                <a:cs typeface="Manrope" pitchFamily="34" charset="-120"/>
              </a:rPr>
              <a:t>Your website and the tools behind it, built to be kept. Fast, plain and yours from the day it goes live.</a:t>
            </a:r>
            <a:endParaRPr lang="en-US" sz="950" dirty="0"/>
          </a:p>
        </p:txBody>
      </p:sp>
      <p:sp>
        <p:nvSpPr>
          <p:cNvPr id="18" name="Shape 16"/>
          <p:cNvSpPr/>
          <p:nvPr/>
        </p:nvSpPr>
        <p:spPr>
          <a:xfrm>
            <a:off x="508406" y="4251960"/>
            <a:ext cx="11186770" cy="0"/>
          </a:xfrm>
          <a:prstGeom prst="line">
            <a:avLst/>
          </a:prstGeom>
          <a:noFill/>
          <a:ln w="9525">
            <a:solidFill>
              <a:srgbClr val="9A9484"/>
            </a:solidFill>
            <a:prstDash val="solid"/>
          </a:ln>
        </p:spPr>
      </p:sp>
      <p:sp>
        <p:nvSpPr>
          <p:cNvPr id="19" name="Text 17"/>
          <p:cNvSpPr txBox="1"/>
          <p:nvPr/>
        </p:nvSpPr>
        <p:spPr>
          <a:xfrm>
            <a:off x="508406" y="4434840"/>
            <a:ext cx="548640"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03</a:t>
            </a:r>
            <a:endParaRPr lang="en-US" sz="700" dirty="0"/>
          </a:p>
        </p:txBody>
      </p:sp>
      <p:sp>
        <p:nvSpPr>
          <p:cNvPr id="20" name="Text 18"/>
          <p:cNvSpPr txBox="1"/>
          <p:nvPr/>
        </p:nvSpPr>
        <p:spPr>
          <a:xfrm>
            <a:off x="1148486" y="4379976"/>
            <a:ext cx="274320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Creative</a:t>
            </a:r>
            <a:endParaRPr lang="en-US" sz="1700" dirty="0"/>
          </a:p>
        </p:txBody>
      </p:sp>
      <p:sp>
        <p:nvSpPr>
          <p:cNvPr id="21" name="Text 19"/>
          <p:cNvSpPr txBox="1"/>
          <p:nvPr/>
        </p:nvSpPr>
        <p:spPr>
          <a:xfrm>
            <a:off x="4364431" y="4398264"/>
            <a:ext cx="7330745" cy="566928"/>
          </a:xfrm>
          <a:prstGeom prst="rect">
            <a:avLst/>
          </a:prstGeom>
          <a:noFill/>
          <a:ln/>
        </p:spPr>
        <p:txBody>
          <a:bodyPr wrap="square" lIns="0" tIns="0" rIns="0" bIns="0" rtlCol="0" anchor="t"/>
          <a:lstStyle/>
          <a:p>
            <a:pPr indent="0" marL="0">
              <a:lnSpc>
                <a:spcPct val="168000"/>
              </a:lnSpc>
              <a:buNone/>
            </a:pPr>
            <a:r>
              <a:rPr lang="en-US" sz="950" dirty="0">
                <a:solidFill>
                  <a:srgbClr val="3D3830"/>
                </a:solidFill>
                <a:latin typeface="Manrope" pitchFamily="34" charset="0"/>
                <a:ea typeface="Manrope" pitchFamily="34" charset="-122"/>
                <a:cs typeface="Manrope" pitchFamily="34" charset="-120"/>
              </a:rPr>
              <a:t>Your brand and how it appears everywhere it appears — the mark, the truck, the estimate, the page.</a:t>
            </a:r>
            <a:endParaRPr lang="en-US" sz="950" dirty="0"/>
          </a:p>
        </p:txBody>
      </p:sp>
      <p:sp>
        <p:nvSpPr>
          <p:cNvPr id="22" name="Shape 20"/>
          <p:cNvSpPr/>
          <p:nvPr/>
        </p:nvSpPr>
        <p:spPr>
          <a:xfrm>
            <a:off x="508406" y="5093208"/>
            <a:ext cx="11186770" cy="0"/>
          </a:xfrm>
          <a:prstGeom prst="line">
            <a:avLst/>
          </a:prstGeom>
          <a:noFill/>
          <a:ln w="9525">
            <a:solidFill>
              <a:srgbClr val="9A9484"/>
            </a:solidFill>
            <a:prstDash val="solid"/>
          </a:ln>
        </p:spPr>
      </p:sp>
      <p:sp>
        <p:nvSpPr>
          <p:cNvPr id="23" name="Text 21"/>
          <p:cNvSpPr txBox="1"/>
          <p:nvPr/>
        </p:nvSpPr>
        <p:spPr>
          <a:xfrm>
            <a:off x="508406" y="5276088"/>
            <a:ext cx="548640"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04</a:t>
            </a:r>
            <a:endParaRPr lang="en-US" sz="700" dirty="0"/>
          </a:p>
        </p:txBody>
      </p:sp>
      <p:sp>
        <p:nvSpPr>
          <p:cNvPr id="24" name="Text 22"/>
          <p:cNvSpPr txBox="1"/>
          <p:nvPr/>
        </p:nvSpPr>
        <p:spPr>
          <a:xfrm>
            <a:off x="1148486" y="5221224"/>
            <a:ext cx="274320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Market Presence</a:t>
            </a:r>
            <a:endParaRPr lang="en-US" sz="1700" dirty="0"/>
          </a:p>
        </p:txBody>
      </p:sp>
      <p:sp>
        <p:nvSpPr>
          <p:cNvPr id="25" name="Text 23"/>
          <p:cNvSpPr txBox="1"/>
          <p:nvPr/>
        </p:nvSpPr>
        <p:spPr>
          <a:xfrm>
            <a:off x="4364431" y="5239512"/>
            <a:ext cx="7330745" cy="566928"/>
          </a:xfrm>
          <a:prstGeom prst="rect">
            <a:avLst/>
          </a:prstGeom>
          <a:noFill/>
          <a:ln/>
        </p:spPr>
        <p:txBody>
          <a:bodyPr wrap="square" lIns="0" tIns="0" rIns="0" bIns="0" rtlCol="0" anchor="t"/>
          <a:lstStyle/>
          <a:p>
            <a:pPr indent="0" marL="0">
              <a:lnSpc>
                <a:spcPct val="168000"/>
              </a:lnSpc>
              <a:buNone/>
            </a:pPr>
            <a:r>
              <a:rPr lang="en-US" sz="950" dirty="0">
                <a:solidFill>
                  <a:srgbClr val="3D3830"/>
                </a:solidFill>
                <a:latin typeface="Manrope" pitchFamily="34" charset="0"/>
                <a:ea typeface="Manrope" pitchFamily="34" charset="-122"/>
                <a:cs typeface="Manrope" pitchFamily="34" charset="-120"/>
              </a:rPr>
              <a:t>How the city finds you — the search listing, the pages, the posts and the ads, run so that the phone rings.</a:t>
            </a:r>
            <a:endParaRPr lang="en-US" sz="950" dirty="0"/>
          </a:p>
        </p:txBody>
      </p:sp>
      <p:sp>
        <p:nvSpPr>
          <p:cNvPr id="26" name="Shape 24"/>
          <p:cNvSpPr/>
          <p:nvPr/>
        </p:nvSpPr>
        <p:spPr>
          <a:xfrm>
            <a:off x="508406" y="5934456"/>
            <a:ext cx="11186770" cy="0"/>
          </a:xfrm>
          <a:prstGeom prst="line">
            <a:avLst/>
          </a:prstGeom>
          <a:noFill/>
          <a:ln w="9525">
            <a:solidFill>
              <a:srgbClr val="9A9484"/>
            </a:solidFill>
            <a:prstDash val="solid"/>
          </a:ln>
        </p:spPr>
      </p:sp>
      <p:sp>
        <p:nvSpPr>
          <p:cNvPr id="27" name="Text 25"/>
          <p:cNvSpPr txBox="1"/>
          <p:nvPr/>
        </p:nvSpPr>
        <p:spPr>
          <a:xfrm>
            <a:off x="508406" y="6117336"/>
            <a:ext cx="548640"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05</a:t>
            </a:r>
            <a:endParaRPr lang="en-US" sz="700" dirty="0"/>
          </a:p>
        </p:txBody>
      </p:sp>
      <p:sp>
        <p:nvSpPr>
          <p:cNvPr id="28" name="Text 26"/>
          <p:cNvSpPr txBox="1"/>
          <p:nvPr/>
        </p:nvSpPr>
        <p:spPr>
          <a:xfrm>
            <a:off x="1148486" y="6062472"/>
            <a:ext cx="274320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Consulting</a:t>
            </a:r>
            <a:endParaRPr lang="en-US" sz="1700" dirty="0"/>
          </a:p>
        </p:txBody>
      </p:sp>
      <p:sp>
        <p:nvSpPr>
          <p:cNvPr id="29" name="Text 27"/>
          <p:cNvSpPr txBox="1"/>
          <p:nvPr/>
        </p:nvSpPr>
        <p:spPr>
          <a:xfrm>
            <a:off x="4364431" y="6080760"/>
            <a:ext cx="7330745" cy="566928"/>
          </a:xfrm>
          <a:prstGeom prst="rect">
            <a:avLst/>
          </a:prstGeom>
          <a:noFill/>
          <a:ln/>
        </p:spPr>
        <p:txBody>
          <a:bodyPr wrap="square" lIns="0" tIns="0" rIns="0" bIns="0" rtlCol="0" anchor="t"/>
          <a:lstStyle/>
          <a:p>
            <a:pPr indent="0" marL="0">
              <a:lnSpc>
                <a:spcPct val="168000"/>
              </a:lnSpc>
              <a:buNone/>
            </a:pPr>
            <a:r>
              <a:rPr lang="en-US" sz="950" dirty="0">
                <a:solidFill>
                  <a:srgbClr val="3D3830"/>
                </a:solidFill>
                <a:latin typeface="Manrope" pitchFamily="34" charset="0"/>
                <a:ea typeface="Manrope" pitchFamily="34" charset="-122"/>
                <a:cs typeface="Manrope" pitchFamily="34" charset="-120"/>
              </a:rPr>
              <a:t>The plan. What to do first, what to leave alone, and what it is worth, in your own numbers.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10"/>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1C1A17"/>
          </a:solidFill>
          <a:ln/>
        </p:spPr>
      </p:sp>
      <p:sp>
        <p:nvSpPr>
          <p:cNvPr id="3" name="Shape 1"/>
          <p:cNvSpPr/>
          <p:nvPr/>
        </p:nvSpPr>
        <p:spPr>
          <a:xfrm>
            <a:off x="0" y="237744"/>
            <a:ext cx="12191695" cy="0"/>
          </a:xfrm>
          <a:prstGeom prst="line">
            <a:avLst/>
          </a:prstGeom>
          <a:noFill/>
          <a:ln w="9525">
            <a:solidFill>
              <a:srgbClr val="3A362F"/>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EAE0C8"/>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EAE0C8"/>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EAE0C8"/>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EAE0C8"/>
                </a:solidFill>
                <a:latin typeface="Manrope" pitchFamily="34" charset="0"/>
                <a:ea typeface="Manrope" pitchFamily="34" charset="-122"/>
                <a:cs typeface="Manrope" pitchFamily="34" charset="-120"/>
              </a:rPr>
              <a:t>pg 7</a:t>
            </a:r>
            <a:endParaRPr lang="en-US" sz="750" dirty="0"/>
          </a:p>
        </p:txBody>
      </p:sp>
      <p:sp>
        <p:nvSpPr>
          <p:cNvPr id="8" name="Text 6"/>
          <p:cNvSpPr txBox="1"/>
          <p:nvPr/>
        </p:nvSpPr>
        <p:spPr>
          <a:xfrm>
            <a:off x="508406" y="694944"/>
            <a:ext cx="7315200" cy="1005840"/>
          </a:xfrm>
          <a:prstGeom prst="rect">
            <a:avLst/>
          </a:prstGeom>
          <a:noFill/>
          <a:ln/>
        </p:spPr>
        <p:txBody>
          <a:bodyPr wrap="square" lIns="0" tIns="0" rIns="0" bIns="0" rtlCol="0" anchor="t"/>
          <a:lstStyle/>
          <a:p>
            <a:pPr indent="0" marL="0">
              <a:lnSpc>
                <a:spcPct val="105000"/>
              </a:lnSpc>
              <a:buNone/>
            </a:pPr>
            <a:r>
              <a:rPr lang="en-US" sz="6200" b="1" dirty="0">
                <a:solidFill>
                  <a:srgbClr val="EAE0C8"/>
                </a:solidFill>
                <a:latin typeface="Bookmania" pitchFamily="34" charset="0"/>
                <a:ea typeface="Bookmania" pitchFamily="34" charset="-122"/>
                <a:cs typeface="Bookmania" pitchFamily="34" charset="-120"/>
              </a:rPr>
              <a:t>OPERATIONS</a:t>
            </a:r>
            <a:endParaRPr lang="en-US" sz="6200" dirty="0"/>
          </a:p>
        </p:txBody>
      </p:sp>
      <p:sp>
        <p:nvSpPr>
          <p:cNvPr id="9" name="Text 7"/>
          <p:cNvSpPr txBox="1"/>
          <p:nvPr/>
        </p:nvSpPr>
        <p:spPr>
          <a:xfrm>
            <a:off x="8220456" y="841248"/>
            <a:ext cx="3474720" cy="822960"/>
          </a:xfrm>
          <a:prstGeom prst="rect">
            <a:avLst/>
          </a:prstGeom>
          <a:noFill/>
          <a:ln/>
        </p:spPr>
        <p:txBody>
          <a:bodyPr wrap="square" lIns="0" tIns="0" rIns="0" bIns="0" rtlCol="0" anchor="t"/>
          <a:lstStyle/>
          <a:p>
            <a:pPr algn="r" indent="0" marL="0">
              <a:lnSpc>
                <a:spcPct val="130000"/>
              </a:lnSpc>
              <a:buNone/>
            </a:pPr>
            <a:r>
              <a:rPr lang="en-US" sz="1250" dirty="0">
                <a:solidFill>
                  <a:srgbClr val="EAE0C8"/>
                </a:solidFill>
                <a:latin typeface="Manrope" pitchFamily="34" charset="0"/>
                <a:ea typeface="Manrope" pitchFamily="34" charset="-122"/>
                <a:cs typeface="Manrope" pitchFamily="34" charset="-120"/>
              </a:rPr>
              <a:t>THE PHONE IS THE WHOLE BUSINESS.</a:t>
            </a:r>
            <a:endParaRPr lang="en-US" sz="1250" dirty="0"/>
          </a:p>
          <a:p>
            <a:pPr algn="r" indent="0" marL="0">
              <a:lnSpc>
                <a:spcPct val="130000"/>
              </a:lnSpc>
              <a:buNone/>
            </a:pPr>
            <a:r>
              <a:rPr lang="en-US" sz="1250" dirty="0">
                <a:solidFill>
                  <a:srgbClr val="EAE0C8"/>
                </a:solidFill>
                <a:latin typeface="Manrope" pitchFamily="34" charset="0"/>
                <a:ea typeface="Manrope" pitchFamily="34" charset="-122"/>
                <a:cs typeface="Manrope" pitchFamily="34" charset="-120"/>
              </a:rPr>
              <a:t>EVERYTHING ELSE IS DOWNSTREAM OF IT.</a:t>
            </a:r>
            <a:endParaRPr lang="en-US" sz="1250" dirty="0"/>
          </a:p>
        </p:txBody>
      </p:sp>
      <p:sp>
        <p:nvSpPr>
          <p:cNvPr id="10" name="Text 8"/>
          <p:cNvSpPr txBox="1"/>
          <p:nvPr/>
        </p:nvSpPr>
        <p:spPr>
          <a:xfrm>
            <a:off x="508406" y="2020824"/>
            <a:ext cx="3566160" cy="731520"/>
          </a:xfrm>
          <a:prstGeom prst="rect">
            <a:avLst/>
          </a:prstGeom>
          <a:noFill/>
          <a:ln/>
        </p:spPr>
        <p:txBody>
          <a:bodyPr wrap="square" lIns="0" tIns="0" rIns="0" bIns="0" rtlCol="0" anchor="t"/>
          <a:lstStyle/>
          <a:p>
            <a:pPr indent="0" marL="0">
              <a:lnSpc>
                <a:spcPct val="105000"/>
              </a:lnSpc>
              <a:buNone/>
            </a:pPr>
            <a:r>
              <a:rPr lang="en-US" sz="1700" dirty="0">
                <a:solidFill>
                  <a:srgbClr val="EAE0C8"/>
                </a:solidFill>
                <a:latin typeface="Bookmania" pitchFamily="34" charset="0"/>
                <a:ea typeface="Bookmania" pitchFamily="34" charset="-122"/>
                <a:cs typeface="Bookmania" pitchFamily="34" charset="-120"/>
              </a:rPr>
              <a:t>Never lose another job</a:t>
            </a:r>
            <a:endParaRPr lang="en-US" sz="1700" dirty="0"/>
          </a:p>
          <a:p>
            <a:pPr indent="0" marL="0">
              <a:lnSpc>
                <a:spcPct val="105000"/>
              </a:lnSpc>
              <a:buNone/>
            </a:pPr>
            <a:r>
              <a:rPr lang="en-US" sz="1700" dirty="0">
                <a:solidFill>
                  <a:srgbClr val="EAE0C8"/>
                </a:solidFill>
                <a:latin typeface="Bookmania" pitchFamily="34" charset="0"/>
                <a:ea typeface="Bookmania" pitchFamily="34" charset="-122"/>
                <a:cs typeface="Bookmania" pitchFamily="34" charset="-120"/>
              </a:rPr>
              <a:t>you could have won.</a:t>
            </a:r>
            <a:endParaRPr lang="en-US" sz="1700" dirty="0"/>
          </a:p>
        </p:txBody>
      </p:sp>
      <p:sp>
        <p:nvSpPr>
          <p:cNvPr id="11" name="Text 9"/>
          <p:cNvSpPr txBox="1"/>
          <p:nvPr/>
        </p:nvSpPr>
        <p:spPr>
          <a:xfrm>
            <a:off x="508406" y="2935224"/>
            <a:ext cx="3474720" cy="2194560"/>
          </a:xfrm>
          <a:prstGeom prst="rect">
            <a:avLst/>
          </a:prstGeom>
          <a:noFill/>
          <a:ln/>
        </p:spPr>
        <p:txBody>
          <a:bodyPr wrap="square" lIns="0" tIns="0" rIns="0" bIns="0" rtlCol="0" anchor="t"/>
          <a:lstStyle/>
          <a:p>
            <a:pPr indent="0" marL="0">
              <a:lnSpc>
                <a:spcPct val="168000"/>
              </a:lnSpc>
              <a:buNone/>
            </a:pPr>
            <a:r>
              <a:rPr lang="en-US" sz="950" dirty="0">
                <a:solidFill>
                  <a:srgbClr val="B5AFA0"/>
                </a:solidFill>
                <a:latin typeface="Manrope" pitchFamily="34" charset="0"/>
                <a:ea typeface="Manrope" pitchFamily="34" charset="-122"/>
                <a:cs typeface="Manrope" pitchFamily="34" charset="-120"/>
              </a:rPr>
              <a:t>A missed call is not a missed call. It is a job that went to whoever picked up first, and you will never see the invoice you did not write.</a:t>
            </a:r>
            <a:endParaRPr lang="en-US" sz="950" dirty="0"/>
          </a:p>
          <a:p>
            <a:pPr indent="0" marL="0">
              <a:lnSpc>
                <a:spcPct val="168000"/>
              </a:lnSpc>
              <a:buNone/>
            </a:pPr>
            <a:endParaRPr lang="en-US" sz="950" dirty="0"/>
          </a:p>
          <a:p>
            <a:pPr indent="0" marL="0">
              <a:lnSpc>
                <a:spcPct val="168000"/>
              </a:lnSpc>
              <a:buNone/>
            </a:pPr>
            <a:r>
              <a:rPr lang="en-US" sz="950" dirty="0">
                <a:solidFill>
                  <a:srgbClr val="B5AFA0"/>
                </a:solidFill>
                <a:latin typeface="Manrope" pitchFamily="34" charset="0"/>
                <a:ea typeface="Manrope" pitchFamily="34" charset="-122"/>
                <a:cs typeface="Manrope" pitchFamily="34" charset="-120"/>
              </a:rPr>
              <a:t>Most owners already run an unpaid version of this work — the after-hours rotation, the voicemail checked at eleven at night, the family member drafted into dispatch. We build the system that does it properly, in your name, and hand you the keys.</a:t>
            </a:r>
            <a:endParaRPr lang="en-US" sz="950" dirty="0"/>
          </a:p>
        </p:txBody>
      </p:sp>
      <p:sp>
        <p:nvSpPr>
          <p:cNvPr id="12" name="Shape 10"/>
          <p:cNvSpPr/>
          <p:nvPr/>
        </p:nvSpPr>
        <p:spPr>
          <a:xfrm>
            <a:off x="4364431" y="2020824"/>
            <a:ext cx="7330745" cy="2788920"/>
          </a:xfrm>
          <a:prstGeom prst="roundRect">
            <a:avLst>
              <a:gd name="adj" fmla="val 2951"/>
            </a:avLst>
          </a:prstGeom>
          <a:solidFill>
            <a:srgbClr val="23201C"/>
          </a:solidFill>
          <a:ln w="9525">
            <a:solidFill>
              <a:srgbClr val="3A362F"/>
            </a:solidFill>
            <a:prstDash val="solid"/>
          </a:ln>
        </p:spPr>
      </p:sp>
      <p:sp>
        <p:nvSpPr>
          <p:cNvPr id="13" name="Text 11"/>
          <p:cNvSpPr txBox="1"/>
          <p:nvPr/>
        </p:nvSpPr>
        <p:spPr>
          <a:xfrm>
            <a:off x="4364431" y="3268980"/>
            <a:ext cx="7330745" cy="292608"/>
          </a:xfrm>
          <a:prstGeom prst="rect">
            <a:avLst/>
          </a:prstGeom>
          <a:noFill/>
          <a:ln/>
        </p:spPr>
        <p:txBody>
          <a:bodyPr wrap="square" lIns="0" tIns="0" rIns="0" bIns="0" rtlCol="0" anchor="ctr"/>
          <a:lstStyle/>
          <a:p>
            <a:pPr algn="ctr" indent="0" marL="0">
              <a:buNone/>
            </a:pPr>
            <a:r>
              <a:rPr lang="en-US" sz="700" spc="160" kern="0" dirty="0">
                <a:solidFill>
                  <a:srgbClr val="5E574C"/>
                </a:solidFill>
                <a:latin typeface="Manrope" pitchFamily="34" charset="0"/>
                <a:ea typeface="Manrope" pitchFamily="34" charset="-122"/>
                <a:cs typeface="Manrope" pitchFamily="34" charset="-120"/>
              </a:rPr>
              <a:t>THE VAN, THE YARD, THE PHONE</a:t>
            </a:r>
            <a:endParaRPr lang="en-US" sz="700" dirty="0"/>
          </a:p>
        </p:txBody>
      </p:sp>
      <p:sp>
        <p:nvSpPr>
          <p:cNvPr id="14" name="Shape 12"/>
          <p:cNvSpPr/>
          <p:nvPr/>
        </p:nvSpPr>
        <p:spPr>
          <a:xfrm>
            <a:off x="10711282" y="4425696"/>
            <a:ext cx="837590" cy="201168"/>
          </a:xfrm>
          <a:prstGeom prst="roundRect">
            <a:avLst>
              <a:gd name="adj" fmla="val 22727"/>
            </a:avLst>
          </a:prstGeom>
          <a:solidFill>
            <a:srgbClr val="000000">
              <a:alpha val="45000"/>
            </a:srgbClr>
          </a:solidFill>
          <a:ln/>
        </p:spPr>
      </p:sp>
      <p:sp>
        <p:nvSpPr>
          <p:cNvPr id="15" name="Text 13"/>
          <p:cNvSpPr txBox="1"/>
          <p:nvPr/>
        </p:nvSpPr>
        <p:spPr>
          <a:xfrm>
            <a:off x="10802722" y="4453128"/>
            <a:ext cx="654710" cy="146304"/>
          </a:xfrm>
          <a:prstGeom prst="rect">
            <a:avLst/>
          </a:prstGeom>
          <a:noFill/>
          <a:ln/>
        </p:spPr>
        <p:txBody>
          <a:bodyPr wrap="square" lIns="0" tIns="0" rIns="0" bIns="0" rtlCol="0" anchor="ctr"/>
          <a:lstStyle/>
          <a:p>
            <a:pPr algn="ctr" indent="0" marL="0">
              <a:buNone/>
            </a:pPr>
            <a:r>
              <a:rPr lang="en-US" sz="700" dirty="0">
                <a:solidFill>
                  <a:srgbClr val="EAE0C8"/>
                </a:solidFill>
                <a:latin typeface="Manrope" pitchFamily="34" charset="0"/>
                <a:ea typeface="Manrope" pitchFamily="34" charset="-122"/>
                <a:cs typeface="Manrope" pitchFamily="34" charset="-120"/>
              </a:rPr>
              <a:t>Atlanta, 2026</a:t>
            </a:r>
            <a:endParaRPr lang="en-US" sz="700" dirty="0"/>
          </a:p>
        </p:txBody>
      </p:sp>
      <p:sp>
        <p:nvSpPr>
          <p:cNvPr id="16" name="Shape 14"/>
          <p:cNvSpPr/>
          <p:nvPr/>
        </p:nvSpPr>
        <p:spPr>
          <a:xfrm>
            <a:off x="508406" y="5129784"/>
            <a:ext cx="3474720" cy="0"/>
          </a:xfrm>
          <a:prstGeom prst="line">
            <a:avLst/>
          </a:prstGeom>
          <a:noFill/>
          <a:ln w="9525">
            <a:solidFill>
              <a:srgbClr val="3A362F"/>
            </a:solidFill>
            <a:prstDash val="solid"/>
          </a:ln>
        </p:spPr>
      </p:sp>
      <p:sp>
        <p:nvSpPr>
          <p:cNvPr id="17" name="Text 15"/>
          <p:cNvSpPr txBox="1"/>
          <p:nvPr/>
        </p:nvSpPr>
        <p:spPr>
          <a:xfrm>
            <a:off x="508406" y="5312664"/>
            <a:ext cx="3474720" cy="274320"/>
          </a:xfrm>
          <a:prstGeom prst="rect">
            <a:avLst/>
          </a:prstGeom>
          <a:noFill/>
          <a:ln/>
        </p:spPr>
        <p:txBody>
          <a:bodyPr wrap="square" lIns="0" tIns="0" rIns="0" bIns="0" rtlCol="0" anchor="t"/>
          <a:lstStyle/>
          <a:p>
            <a:pPr indent="0" marL="0">
              <a:lnSpc>
                <a:spcPct val="105000"/>
              </a:lnSpc>
              <a:buNone/>
            </a:pPr>
            <a:r>
              <a:rPr lang="en-US" sz="1500" dirty="0">
                <a:solidFill>
                  <a:srgbClr val="EAE0C8"/>
                </a:solidFill>
                <a:latin typeface="Bookmania" pitchFamily="34" charset="0"/>
                <a:ea typeface="Bookmania" pitchFamily="34" charset="-122"/>
                <a:cs typeface="Bookmania" pitchFamily="34" charset="-120"/>
              </a:rPr>
              <a:t>Speed to lead</a:t>
            </a:r>
            <a:endParaRPr lang="en-US" sz="1500" dirty="0"/>
          </a:p>
        </p:txBody>
      </p:sp>
      <p:sp>
        <p:nvSpPr>
          <p:cNvPr id="18" name="Text 16"/>
          <p:cNvSpPr txBox="1"/>
          <p:nvPr/>
        </p:nvSpPr>
        <p:spPr>
          <a:xfrm>
            <a:off x="508406" y="5678424"/>
            <a:ext cx="3474720" cy="640080"/>
          </a:xfrm>
          <a:prstGeom prst="rect">
            <a:avLst/>
          </a:prstGeom>
          <a:noFill/>
          <a:ln/>
        </p:spPr>
        <p:txBody>
          <a:bodyPr wrap="square" lIns="0" tIns="0" rIns="0" bIns="0" rtlCol="0" anchor="t"/>
          <a:lstStyle/>
          <a:p>
            <a:pPr indent="0" marL="0">
              <a:lnSpc>
                <a:spcPct val="168000"/>
              </a:lnSpc>
              <a:buNone/>
            </a:pPr>
            <a:r>
              <a:rPr lang="en-US" sz="800" dirty="0">
                <a:solidFill>
                  <a:srgbClr val="7A7264"/>
                </a:solidFill>
                <a:latin typeface="Manrope" pitchFamily="34" charset="0"/>
                <a:ea typeface="Manrope" pitchFamily="34" charset="-122"/>
                <a:cs typeface="Manrope" pitchFamily="34" charset="-120"/>
              </a:rPr>
              <a:t>The web lead or missed call that waits an hour and goes to the next number.</a:t>
            </a:r>
            <a:endParaRPr lang="en-US" sz="800" dirty="0"/>
          </a:p>
        </p:txBody>
      </p:sp>
      <p:sp>
        <p:nvSpPr>
          <p:cNvPr id="19" name="Shape 17"/>
          <p:cNvSpPr/>
          <p:nvPr/>
        </p:nvSpPr>
        <p:spPr>
          <a:xfrm>
            <a:off x="4364431" y="5129784"/>
            <a:ext cx="3474720" cy="0"/>
          </a:xfrm>
          <a:prstGeom prst="line">
            <a:avLst/>
          </a:prstGeom>
          <a:noFill/>
          <a:ln w="9525">
            <a:solidFill>
              <a:srgbClr val="3A362F"/>
            </a:solidFill>
            <a:prstDash val="solid"/>
          </a:ln>
        </p:spPr>
      </p:sp>
      <p:sp>
        <p:nvSpPr>
          <p:cNvPr id="20" name="Text 18"/>
          <p:cNvSpPr txBox="1"/>
          <p:nvPr/>
        </p:nvSpPr>
        <p:spPr>
          <a:xfrm>
            <a:off x="4364431" y="5312664"/>
            <a:ext cx="3474720" cy="274320"/>
          </a:xfrm>
          <a:prstGeom prst="rect">
            <a:avLst/>
          </a:prstGeom>
          <a:noFill/>
          <a:ln/>
        </p:spPr>
        <p:txBody>
          <a:bodyPr wrap="square" lIns="0" tIns="0" rIns="0" bIns="0" rtlCol="0" anchor="t"/>
          <a:lstStyle/>
          <a:p>
            <a:pPr indent="0" marL="0">
              <a:lnSpc>
                <a:spcPct val="105000"/>
              </a:lnSpc>
              <a:buNone/>
            </a:pPr>
            <a:r>
              <a:rPr lang="en-US" sz="1500" dirty="0">
                <a:solidFill>
                  <a:srgbClr val="EAE0C8"/>
                </a:solidFill>
                <a:latin typeface="Bookmania" pitchFamily="34" charset="0"/>
                <a:ea typeface="Bookmania" pitchFamily="34" charset="-122"/>
                <a:cs typeface="Bookmania" pitchFamily="34" charset="-120"/>
              </a:rPr>
              <a:t>After-hours capture</a:t>
            </a:r>
            <a:endParaRPr lang="en-US" sz="1500" dirty="0"/>
          </a:p>
        </p:txBody>
      </p:sp>
      <p:sp>
        <p:nvSpPr>
          <p:cNvPr id="21" name="Text 19"/>
          <p:cNvSpPr txBox="1"/>
          <p:nvPr/>
        </p:nvSpPr>
        <p:spPr>
          <a:xfrm>
            <a:off x="4364431" y="5678424"/>
            <a:ext cx="3474720" cy="640080"/>
          </a:xfrm>
          <a:prstGeom prst="rect">
            <a:avLst/>
          </a:prstGeom>
          <a:noFill/>
          <a:ln/>
        </p:spPr>
        <p:txBody>
          <a:bodyPr wrap="square" lIns="0" tIns="0" rIns="0" bIns="0" rtlCol="0" anchor="t"/>
          <a:lstStyle/>
          <a:p>
            <a:pPr indent="0" marL="0">
              <a:lnSpc>
                <a:spcPct val="168000"/>
              </a:lnSpc>
              <a:buNone/>
            </a:pPr>
            <a:r>
              <a:rPr lang="en-US" sz="800" dirty="0">
                <a:solidFill>
                  <a:srgbClr val="7A7264"/>
                </a:solidFill>
                <a:latin typeface="Manrope" pitchFamily="34" charset="0"/>
                <a:ea typeface="Manrope" pitchFamily="34" charset="-122"/>
                <a:cs typeface="Manrope" pitchFamily="34" charset="-120"/>
              </a:rPr>
              <a:t>The two-in-the-morning storm call that hits voicemail and never calls back.</a:t>
            </a:r>
            <a:endParaRPr lang="en-US" sz="800" dirty="0"/>
          </a:p>
        </p:txBody>
      </p:sp>
      <p:sp>
        <p:nvSpPr>
          <p:cNvPr id="22" name="Shape 20"/>
          <p:cNvSpPr/>
          <p:nvPr/>
        </p:nvSpPr>
        <p:spPr>
          <a:xfrm>
            <a:off x="8220456" y="5129784"/>
            <a:ext cx="3474720" cy="0"/>
          </a:xfrm>
          <a:prstGeom prst="line">
            <a:avLst/>
          </a:prstGeom>
          <a:noFill/>
          <a:ln w="9525">
            <a:solidFill>
              <a:srgbClr val="3A362F"/>
            </a:solidFill>
            <a:prstDash val="solid"/>
          </a:ln>
        </p:spPr>
      </p:sp>
      <p:sp>
        <p:nvSpPr>
          <p:cNvPr id="23" name="Text 21"/>
          <p:cNvSpPr txBox="1"/>
          <p:nvPr/>
        </p:nvSpPr>
        <p:spPr>
          <a:xfrm>
            <a:off x="8220456" y="5312664"/>
            <a:ext cx="3474720" cy="274320"/>
          </a:xfrm>
          <a:prstGeom prst="rect">
            <a:avLst/>
          </a:prstGeom>
          <a:noFill/>
          <a:ln/>
        </p:spPr>
        <p:txBody>
          <a:bodyPr wrap="square" lIns="0" tIns="0" rIns="0" bIns="0" rtlCol="0" anchor="t"/>
          <a:lstStyle/>
          <a:p>
            <a:pPr indent="0" marL="0">
              <a:lnSpc>
                <a:spcPct val="105000"/>
              </a:lnSpc>
              <a:buNone/>
            </a:pPr>
            <a:r>
              <a:rPr lang="en-US" sz="1500" dirty="0">
                <a:solidFill>
                  <a:srgbClr val="EAE0C8"/>
                </a:solidFill>
                <a:latin typeface="Bookmania" pitchFamily="34" charset="0"/>
                <a:ea typeface="Bookmania" pitchFamily="34" charset="-122"/>
                <a:cs typeface="Bookmania" pitchFamily="34" charset="-120"/>
              </a:rPr>
              <a:t>Database activation</a:t>
            </a:r>
            <a:endParaRPr lang="en-US" sz="1500" dirty="0"/>
          </a:p>
        </p:txBody>
      </p:sp>
      <p:sp>
        <p:nvSpPr>
          <p:cNvPr id="24" name="Text 22"/>
          <p:cNvSpPr txBox="1"/>
          <p:nvPr/>
        </p:nvSpPr>
        <p:spPr>
          <a:xfrm>
            <a:off x="8220456" y="5678424"/>
            <a:ext cx="3474720" cy="640080"/>
          </a:xfrm>
          <a:prstGeom prst="rect">
            <a:avLst/>
          </a:prstGeom>
          <a:noFill/>
          <a:ln/>
        </p:spPr>
        <p:txBody>
          <a:bodyPr wrap="square" lIns="0" tIns="0" rIns="0" bIns="0" rtlCol="0" anchor="t"/>
          <a:lstStyle/>
          <a:p>
            <a:pPr indent="0" marL="0">
              <a:lnSpc>
                <a:spcPct val="168000"/>
              </a:lnSpc>
              <a:buNone/>
            </a:pPr>
            <a:r>
              <a:rPr lang="en-US" sz="800" dirty="0">
                <a:solidFill>
                  <a:srgbClr val="7A7264"/>
                </a:solidFill>
                <a:latin typeface="Manrope" pitchFamily="34" charset="0"/>
                <a:ea typeface="Manrope" pitchFamily="34" charset="-122"/>
                <a:cs typeface="Manrope" pitchFamily="34" charset="-120"/>
              </a:rPr>
              <a:t>The old customers and dead quotes nobody has called since.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8</a:t>
            </a:r>
            <a:endParaRPr lang="en-US" sz="750" dirty="0"/>
          </a:p>
        </p:txBody>
      </p:sp>
      <p:sp>
        <p:nvSpPr>
          <p:cNvPr id="8" name="Text 6"/>
          <p:cNvSpPr txBox="1"/>
          <p:nvPr/>
        </p:nvSpPr>
        <p:spPr>
          <a:xfrm>
            <a:off x="508406" y="731520"/>
            <a:ext cx="7863840" cy="137160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Everything we build is yours</a:t>
            </a:r>
            <a:endParaRPr lang="en-US" sz="4300" dirty="0"/>
          </a:p>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the day it goes live.</a:t>
            </a:r>
            <a:endParaRPr lang="en-US" sz="4300" dirty="0"/>
          </a:p>
        </p:txBody>
      </p:sp>
      <p:sp>
        <p:nvSpPr>
          <p:cNvPr id="9" name="Text 7"/>
          <p:cNvSpPr txBox="1"/>
          <p:nvPr/>
        </p:nvSpPr>
        <p:spPr>
          <a:xfrm>
            <a:off x="8220456" y="804672"/>
            <a:ext cx="3474720" cy="914400"/>
          </a:xfrm>
          <a:prstGeom prst="rect">
            <a:avLst/>
          </a:prstGeom>
          <a:noFill/>
          <a:ln/>
        </p:spPr>
        <p:txBody>
          <a:bodyPr wrap="square" lIns="0" tIns="0" rIns="0" bIns="0" rtlCol="0" anchor="t"/>
          <a:lstStyle/>
          <a:p>
            <a:pPr algn="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Most agencies charge by the month and take the keys with them when the engagement ends.</a:t>
            </a:r>
            <a:endParaRPr lang="en-US" sz="1250" dirty="0"/>
          </a:p>
        </p:txBody>
      </p:sp>
      <p:sp>
        <p:nvSpPr>
          <p:cNvPr id="10" name="Shape 8"/>
          <p:cNvSpPr/>
          <p:nvPr/>
        </p:nvSpPr>
        <p:spPr>
          <a:xfrm>
            <a:off x="508406" y="2569464"/>
            <a:ext cx="2590952" cy="2606040"/>
          </a:xfrm>
          <a:prstGeom prst="roundRect">
            <a:avLst>
              <a:gd name="adj" fmla="val 3176"/>
            </a:avLst>
          </a:prstGeom>
          <a:solidFill>
            <a:srgbClr val="DEE8F4"/>
          </a:solidFill>
          <a:ln/>
        </p:spPr>
      </p:sp>
      <p:sp>
        <p:nvSpPr>
          <p:cNvPr id="11" name="Text 9"/>
          <p:cNvSpPr txBox="1"/>
          <p:nvPr/>
        </p:nvSpPr>
        <p:spPr>
          <a:xfrm>
            <a:off x="746150" y="2798064"/>
            <a:ext cx="914400" cy="201168"/>
          </a:xfrm>
          <a:prstGeom prst="rect">
            <a:avLst/>
          </a:prstGeom>
          <a:noFill/>
          <a:ln/>
        </p:spPr>
        <p:txBody>
          <a:bodyPr wrap="square" lIns="0" tIns="0" rIns="0" bIns="0" rtlCol="0" anchor="t"/>
          <a:lstStyle/>
          <a:p>
            <a:pPr indent="0" marL="0">
              <a:buNone/>
            </a:pPr>
            <a:r>
              <a:rPr lang="en-US" sz="700" b="1" spc="180" kern="0" dirty="0">
                <a:solidFill>
                  <a:srgbClr val="305A92"/>
                </a:solidFill>
                <a:latin typeface="Manrope" pitchFamily="34" charset="0"/>
                <a:ea typeface="Manrope" pitchFamily="34" charset="-122"/>
                <a:cs typeface="Manrope" pitchFamily="34" charset="-120"/>
              </a:rPr>
              <a:t>01</a:t>
            </a:r>
            <a:endParaRPr lang="en-US" sz="700" dirty="0"/>
          </a:p>
        </p:txBody>
      </p:sp>
      <p:sp>
        <p:nvSpPr>
          <p:cNvPr id="12" name="Text 10"/>
          <p:cNvSpPr txBox="1"/>
          <p:nvPr/>
        </p:nvSpPr>
        <p:spPr>
          <a:xfrm>
            <a:off x="746150" y="3072384"/>
            <a:ext cx="2115464" cy="54864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number</a:t>
            </a:r>
            <a:endParaRPr lang="en-US" sz="1700" dirty="0"/>
          </a:p>
        </p:txBody>
      </p:sp>
      <p:sp>
        <p:nvSpPr>
          <p:cNvPr id="13" name="Text 11"/>
          <p:cNvSpPr txBox="1"/>
          <p:nvPr/>
        </p:nvSpPr>
        <p:spPr>
          <a:xfrm>
            <a:off x="746150" y="3749040"/>
            <a:ext cx="2115464" cy="128016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The phone line, the text-back number, the accounts — in your name, not ours.</a:t>
            </a:r>
            <a:endParaRPr lang="en-US" sz="950" dirty="0"/>
          </a:p>
        </p:txBody>
      </p:sp>
      <p:sp>
        <p:nvSpPr>
          <p:cNvPr id="14" name="Shape 12"/>
          <p:cNvSpPr/>
          <p:nvPr/>
        </p:nvSpPr>
        <p:spPr>
          <a:xfrm>
            <a:off x="3373679" y="2569464"/>
            <a:ext cx="2590952" cy="2606040"/>
          </a:xfrm>
          <a:prstGeom prst="roundRect">
            <a:avLst>
              <a:gd name="adj" fmla="val 3176"/>
            </a:avLst>
          </a:prstGeom>
          <a:solidFill>
            <a:srgbClr val="DEE8F4"/>
          </a:solidFill>
          <a:ln/>
        </p:spPr>
      </p:sp>
      <p:sp>
        <p:nvSpPr>
          <p:cNvPr id="15" name="Text 13"/>
          <p:cNvSpPr txBox="1"/>
          <p:nvPr/>
        </p:nvSpPr>
        <p:spPr>
          <a:xfrm>
            <a:off x="3611423" y="2798064"/>
            <a:ext cx="914400" cy="201168"/>
          </a:xfrm>
          <a:prstGeom prst="rect">
            <a:avLst/>
          </a:prstGeom>
          <a:noFill/>
          <a:ln/>
        </p:spPr>
        <p:txBody>
          <a:bodyPr wrap="square" lIns="0" tIns="0" rIns="0" bIns="0" rtlCol="0" anchor="t"/>
          <a:lstStyle/>
          <a:p>
            <a:pPr indent="0" marL="0">
              <a:buNone/>
            </a:pPr>
            <a:r>
              <a:rPr lang="en-US" sz="700" b="1" spc="180" kern="0" dirty="0">
                <a:solidFill>
                  <a:srgbClr val="305A92"/>
                </a:solidFill>
                <a:latin typeface="Manrope" pitchFamily="34" charset="0"/>
                <a:ea typeface="Manrope" pitchFamily="34" charset="-122"/>
                <a:cs typeface="Manrope" pitchFamily="34" charset="-120"/>
              </a:rPr>
              <a:t>02</a:t>
            </a:r>
            <a:endParaRPr lang="en-US" sz="700" dirty="0"/>
          </a:p>
        </p:txBody>
      </p:sp>
      <p:sp>
        <p:nvSpPr>
          <p:cNvPr id="16" name="Text 14"/>
          <p:cNvSpPr txBox="1"/>
          <p:nvPr/>
        </p:nvSpPr>
        <p:spPr>
          <a:xfrm>
            <a:off x="3611423" y="3072384"/>
            <a:ext cx="2115464" cy="54864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records</a:t>
            </a:r>
            <a:endParaRPr lang="en-US" sz="1700" dirty="0"/>
          </a:p>
        </p:txBody>
      </p:sp>
      <p:sp>
        <p:nvSpPr>
          <p:cNvPr id="17" name="Text 15"/>
          <p:cNvSpPr txBox="1"/>
          <p:nvPr/>
        </p:nvSpPr>
        <p:spPr>
          <a:xfrm>
            <a:off x="3611423" y="3749040"/>
            <a:ext cx="2115464" cy="128016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Every call, every message, every booking, kept where you can read them.</a:t>
            </a:r>
            <a:endParaRPr lang="en-US" sz="950" dirty="0"/>
          </a:p>
        </p:txBody>
      </p:sp>
      <p:sp>
        <p:nvSpPr>
          <p:cNvPr id="18" name="Shape 16"/>
          <p:cNvSpPr/>
          <p:nvPr/>
        </p:nvSpPr>
        <p:spPr>
          <a:xfrm>
            <a:off x="6238951" y="2569464"/>
            <a:ext cx="2590952" cy="2606040"/>
          </a:xfrm>
          <a:prstGeom prst="roundRect">
            <a:avLst>
              <a:gd name="adj" fmla="val 3176"/>
            </a:avLst>
          </a:prstGeom>
          <a:solidFill>
            <a:srgbClr val="DEE8F4"/>
          </a:solidFill>
          <a:ln/>
        </p:spPr>
      </p:sp>
      <p:sp>
        <p:nvSpPr>
          <p:cNvPr id="19" name="Text 17"/>
          <p:cNvSpPr txBox="1"/>
          <p:nvPr/>
        </p:nvSpPr>
        <p:spPr>
          <a:xfrm>
            <a:off x="6476695" y="2798064"/>
            <a:ext cx="914400" cy="201168"/>
          </a:xfrm>
          <a:prstGeom prst="rect">
            <a:avLst/>
          </a:prstGeom>
          <a:noFill/>
          <a:ln/>
        </p:spPr>
        <p:txBody>
          <a:bodyPr wrap="square" lIns="0" tIns="0" rIns="0" bIns="0" rtlCol="0" anchor="t"/>
          <a:lstStyle/>
          <a:p>
            <a:pPr indent="0" marL="0">
              <a:buNone/>
            </a:pPr>
            <a:r>
              <a:rPr lang="en-US" sz="700" b="1" spc="180" kern="0" dirty="0">
                <a:solidFill>
                  <a:srgbClr val="305A92"/>
                </a:solidFill>
                <a:latin typeface="Manrope" pitchFamily="34" charset="0"/>
                <a:ea typeface="Manrope" pitchFamily="34" charset="-122"/>
                <a:cs typeface="Manrope" pitchFamily="34" charset="-120"/>
              </a:rPr>
              <a:t>03</a:t>
            </a:r>
            <a:endParaRPr lang="en-US" sz="700" dirty="0"/>
          </a:p>
        </p:txBody>
      </p:sp>
      <p:sp>
        <p:nvSpPr>
          <p:cNvPr id="20" name="Text 18"/>
          <p:cNvSpPr txBox="1"/>
          <p:nvPr/>
        </p:nvSpPr>
        <p:spPr>
          <a:xfrm>
            <a:off x="6476695" y="3072384"/>
            <a:ext cx="2115464" cy="54864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writing</a:t>
            </a:r>
            <a:endParaRPr lang="en-US" sz="1700" dirty="0"/>
          </a:p>
        </p:txBody>
      </p:sp>
      <p:sp>
        <p:nvSpPr>
          <p:cNvPr id="21" name="Text 19"/>
          <p:cNvSpPr txBox="1"/>
          <p:nvPr/>
        </p:nvSpPr>
        <p:spPr>
          <a:xfrm>
            <a:off x="6476695" y="3749040"/>
            <a:ext cx="2115464" cy="128016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The words the system uses, the pages, the plan — the whole of it, handed across.</a:t>
            </a:r>
            <a:endParaRPr lang="en-US" sz="950" dirty="0"/>
          </a:p>
        </p:txBody>
      </p:sp>
      <p:sp>
        <p:nvSpPr>
          <p:cNvPr id="22" name="Shape 20"/>
          <p:cNvSpPr/>
          <p:nvPr/>
        </p:nvSpPr>
        <p:spPr>
          <a:xfrm>
            <a:off x="9104224" y="2569464"/>
            <a:ext cx="2590952" cy="2606040"/>
          </a:xfrm>
          <a:prstGeom prst="roundRect">
            <a:avLst>
              <a:gd name="adj" fmla="val 3176"/>
            </a:avLst>
          </a:prstGeom>
          <a:solidFill>
            <a:srgbClr val="DEE8F4"/>
          </a:solidFill>
          <a:ln/>
        </p:spPr>
      </p:sp>
      <p:sp>
        <p:nvSpPr>
          <p:cNvPr id="23" name="Text 21"/>
          <p:cNvSpPr txBox="1"/>
          <p:nvPr/>
        </p:nvSpPr>
        <p:spPr>
          <a:xfrm>
            <a:off x="9341968" y="2798064"/>
            <a:ext cx="914400" cy="201168"/>
          </a:xfrm>
          <a:prstGeom prst="rect">
            <a:avLst/>
          </a:prstGeom>
          <a:noFill/>
          <a:ln/>
        </p:spPr>
        <p:txBody>
          <a:bodyPr wrap="square" lIns="0" tIns="0" rIns="0" bIns="0" rtlCol="0" anchor="t"/>
          <a:lstStyle/>
          <a:p>
            <a:pPr indent="0" marL="0">
              <a:buNone/>
            </a:pPr>
            <a:r>
              <a:rPr lang="en-US" sz="700" b="1" spc="180" kern="0" dirty="0">
                <a:solidFill>
                  <a:srgbClr val="305A92"/>
                </a:solidFill>
                <a:latin typeface="Manrope" pitchFamily="34" charset="0"/>
                <a:ea typeface="Manrope" pitchFamily="34" charset="-122"/>
                <a:cs typeface="Manrope" pitchFamily="34" charset="-120"/>
              </a:rPr>
              <a:t>04</a:t>
            </a:r>
            <a:endParaRPr lang="en-US" sz="700" dirty="0"/>
          </a:p>
        </p:txBody>
      </p:sp>
      <p:sp>
        <p:nvSpPr>
          <p:cNvPr id="24" name="Text 22"/>
          <p:cNvSpPr txBox="1"/>
          <p:nvPr/>
        </p:nvSpPr>
        <p:spPr>
          <a:xfrm>
            <a:off x="9341968" y="3072384"/>
            <a:ext cx="2115464" cy="54864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right to leave</a:t>
            </a:r>
            <a:endParaRPr lang="en-US" sz="1700" dirty="0"/>
          </a:p>
        </p:txBody>
      </p:sp>
      <p:sp>
        <p:nvSpPr>
          <p:cNvPr id="25" name="Text 23"/>
          <p:cNvSpPr txBox="1"/>
          <p:nvPr/>
        </p:nvSpPr>
        <p:spPr>
          <a:xfrm>
            <a:off x="9341968" y="3749040"/>
            <a:ext cx="2115464" cy="128016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Thirty days after it goes live, if you would rather not keep it, we unplug it and refund the setup.</a:t>
            </a:r>
            <a:endParaRPr lang="en-US" sz="950" dirty="0"/>
          </a:p>
        </p:txBody>
      </p:sp>
      <p:sp>
        <p:nvSpPr>
          <p:cNvPr id="26" name="Shape 24"/>
          <p:cNvSpPr/>
          <p:nvPr/>
        </p:nvSpPr>
        <p:spPr>
          <a:xfrm>
            <a:off x="508406" y="5312664"/>
            <a:ext cx="1225296" cy="256032"/>
          </a:xfrm>
          <a:prstGeom prst="roundRect">
            <a:avLst>
              <a:gd name="adj" fmla="val 17857"/>
            </a:avLst>
          </a:prstGeom>
          <a:solidFill>
            <a:srgbClr val="0F0F10"/>
          </a:solidFill>
          <a:ln/>
        </p:spPr>
      </p:sp>
      <p:sp>
        <p:nvSpPr>
          <p:cNvPr id="27" name="Text 25"/>
          <p:cNvSpPr txBox="1"/>
          <p:nvPr/>
        </p:nvSpPr>
        <p:spPr>
          <a:xfrm>
            <a:off x="618134" y="5362956"/>
            <a:ext cx="1005840" cy="164592"/>
          </a:xfrm>
          <a:prstGeom prst="rect">
            <a:avLst/>
          </a:prstGeom>
          <a:noFill/>
          <a:ln/>
        </p:spPr>
        <p:txBody>
          <a:bodyPr wrap="square" lIns="0" tIns="0" rIns="0" bIns="0" rtlCol="0" anchor="ctr"/>
          <a:lstStyle/>
          <a:p>
            <a:pPr indent="0" marL="0">
              <a:buNone/>
            </a:pPr>
            <a:r>
              <a:rPr lang="en-US" sz="700" dirty="0">
                <a:solidFill>
                  <a:srgbClr val="EAE0C8"/>
                </a:solidFill>
                <a:latin typeface="Manrope" pitchFamily="34" charset="0"/>
                <a:ea typeface="Manrope" pitchFamily="34" charset="-122"/>
                <a:cs typeface="Manrope" pitchFamily="34" charset="-120"/>
              </a:rPr>
              <a:t>The Owner's Keys</a:t>
            </a:r>
            <a:endParaRPr lang="en-US" sz="700" dirty="0"/>
          </a:p>
        </p:txBody>
      </p:sp>
      <p:sp>
        <p:nvSpPr>
          <p:cNvPr id="28" name="Shape 26"/>
          <p:cNvSpPr/>
          <p:nvPr/>
        </p:nvSpPr>
        <p:spPr>
          <a:xfrm>
            <a:off x="508406" y="5568696"/>
            <a:ext cx="7330745" cy="777240"/>
          </a:xfrm>
          <a:prstGeom prst="roundRect">
            <a:avLst>
              <a:gd name="adj" fmla="val 10588"/>
            </a:avLst>
          </a:prstGeom>
          <a:solidFill>
            <a:srgbClr val="FFFFFF"/>
          </a:solidFill>
          <a:ln w="9525">
            <a:solidFill>
              <a:srgbClr val="D8D2C4"/>
            </a:solidFill>
            <a:prstDash val="solid"/>
          </a:ln>
        </p:spPr>
      </p:sp>
      <p:sp>
        <p:nvSpPr>
          <p:cNvPr id="29" name="Text 27"/>
          <p:cNvSpPr txBox="1"/>
          <p:nvPr/>
        </p:nvSpPr>
        <p:spPr>
          <a:xfrm>
            <a:off x="746150" y="5751576"/>
            <a:ext cx="6855257" cy="365760"/>
          </a:xfrm>
          <a:prstGeom prst="rect">
            <a:avLst/>
          </a:prstGeom>
          <a:noFill/>
          <a:ln/>
        </p:spPr>
        <p:txBody>
          <a:bodyPr wrap="square" lIns="0" tIns="0" rIns="0" bIns="0" rtlCol="0" anchor="t"/>
          <a:lstStyle/>
          <a:p>
            <a:pPr indent="0" marL="0">
              <a:lnSpc>
                <a:spcPct val="124000"/>
              </a:lnSpc>
              <a:buNone/>
            </a:pPr>
            <a:r>
              <a:rPr lang="en-US" sz="1700" dirty="0">
                <a:solidFill>
                  <a:srgbClr val="0F0F10"/>
                </a:solidFill>
                <a:latin typeface="Bookmania" pitchFamily="34" charset="0"/>
                <a:ea typeface="Bookmania" pitchFamily="34" charset="-122"/>
                <a:cs typeface="Bookmania" pitchFamily="34" charset="-120"/>
              </a:rPr>
              <a:t>Stop governance whenever you like.</a:t>
            </a:r>
            <a:endParaRPr lang="en-US" sz="1700" dirty="0"/>
          </a:p>
        </p:txBody>
      </p:sp>
      <p:sp>
        <p:nvSpPr>
          <p:cNvPr id="30" name="Text 28"/>
          <p:cNvSpPr txBox="1"/>
          <p:nvPr/>
        </p:nvSpPr>
        <p:spPr>
          <a:xfrm>
            <a:off x="746150" y="6117336"/>
            <a:ext cx="6855257" cy="137160"/>
          </a:xfrm>
          <a:prstGeom prst="rect">
            <a:avLst/>
          </a:prstGeom>
          <a:noFill/>
          <a:ln/>
        </p:spPr>
        <p:txBody>
          <a:bodyPr wrap="square" lIns="0" tIns="0" rIns="0" bIns="0" rtlCol="0" anchor="t"/>
          <a:lstStyle/>
          <a:p>
            <a:pPr indent="0" marL="0">
              <a:lnSpc>
                <a:spcPct val="168000"/>
              </a:lnSpc>
              <a:buNone/>
            </a:pPr>
            <a:r>
              <a:rPr lang="en-US" sz="800" dirty="0">
                <a:solidFill>
                  <a:srgbClr val="7A7264"/>
                </a:solidFill>
                <a:latin typeface="Manrope" pitchFamily="34" charset="0"/>
                <a:ea typeface="Manrope" pitchFamily="34" charset="-122"/>
                <a:cs typeface="Manrope" pitchFamily="34" charset="-120"/>
              </a:rPr>
              <a:t>The system keeps running. Nothing switches off, and the number stays yours.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9</a:t>
            </a:r>
            <a:endParaRPr lang="en-US" sz="750" dirty="0"/>
          </a:p>
        </p:txBody>
      </p:sp>
      <p:sp>
        <p:nvSpPr>
          <p:cNvPr id="8" name="Text 6"/>
          <p:cNvSpPr txBox="1"/>
          <p:nvPr/>
        </p:nvSpPr>
        <p:spPr>
          <a:xfrm>
            <a:off x="508406" y="731520"/>
            <a:ext cx="4572000" cy="91440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How it works</a:t>
            </a:r>
            <a:endParaRPr lang="en-US" sz="4300" dirty="0"/>
          </a:p>
        </p:txBody>
      </p:sp>
      <p:sp>
        <p:nvSpPr>
          <p:cNvPr id="9" name="Text 7"/>
          <p:cNvSpPr txBox="1"/>
          <p:nvPr/>
        </p:nvSpPr>
        <p:spPr>
          <a:xfrm>
            <a:off x="8220456" y="804672"/>
            <a:ext cx="3474720" cy="731520"/>
          </a:xfrm>
          <a:prstGeom prst="rect">
            <a:avLst/>
          </a:prstGeom>
          <a:noFill/>
          <a:ln/>
        </p:spPr>
        <p:txBody>
          <a:bodyPr wrap="square" lIns="0" tIns="0" rIns="0" bIns="0" rtlCol="0" anchor="t"/>
          <a:lstStyle/>
          <a:p>
            <a:pPr algn="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Five moments. No ceremony, no travel, no surprises at the end.</a:t>
            </a:r>
            <a:endParaRPr lang="en-US" sz="1250" dirty="0"/>
          </a:p>
        </p:txBody>
      </p:sp>
      <p:sp>
        <p:nvSpPr>
          <p:cNvPr id="10" name="Shape 8"/>
          <p:cNvSpPr/>
          <p:nvPr/>
        </p:nvSpPr>
        <p:spPr>
          <a:xfrm>
            <a:off x="508406" y="2020824"/>
            <a:ext cx="11186770" cy="0"/>
          </a:xfrm>
          <a:prstGeom prst="line">
            <a:avLst/>
          </a:prstGeom>
          <a:noFill/>
          <a:ln w="9525">
            <a:solidFill>
              <a:srgbClr val="D8D2C4"/>
            </a:solidFill>
            <a:prstDash val="solid"/>
          </a:ln>
        </p:spPr>
      </p:sp>
      <p:sp>
        <p:nvSpPr>
          <p:cNvPr id="11" name="Shape 9"/>
          <p:cNvSpPr/>
          <p:nvPr/>
        </p:nvSpPr>
        <p:spPr>
          <a:xfrm>
            <a:off x="508406" y="2240280"/>
            <a:ext cx="146304" cy="146304"/>
          </a:xfrm>
          <a:prstGeom prst="roundRect">
            <a:avLst>
              <a:gd name="adj" fmla="val 31250"/>
            </a:avLst>
          </a:prstGeom>
          <a:solidFill>
            <a:srgbClr val="D96E6E"/>
          </a:solidFill>
          <a:ln/>
        </p:spPr>
      </p:sp>
      <p:sp>
        <p:nvSpPr>
          <p:cNvPr id="12" name="Text 10"/>
          <p:cNvSpPr txBox="1"/>
          <p:nvPr/>
        </p:nvSpPr>
        <p:spPr>
          <a:xfrm>
            <a:off x="819302" y="2221992"/>
            <a:ext cx="54864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01</a:t>
            </a:r>
            <a:endParaRPr lang="en-US" sz="700" dirty="0"/>
          </a:p>
        </p:txBody>
      </p:sp>
      <p:sp>
        <p:nvSpPr>
          <p:cNvPr id="13" name="Text 11"/>
          <p:cNvSpPr txBox="1"/>
          <p:nvPr/>
        </p:nvSpPr>
        <p:spPr>
          <a:xfrm>
            <a:off x="1468526" y="2167128"/>
            <a:ext cx="256032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first call</a:t>
            </a:r>
            <a:endParaRPr lang="en-US" sz="1700" dirty="0"/>
          </a:p>
        </p:txBody>
      </p:sp>
      <p:sp>
        <p:nvSpPr>
          <p:cNvPr id="14" name="Text 12"/>
          <p:cNvSpPr txBox="1"/>
          <p:nvPr/>
        </p:nvSpPr>
        <p:spPr>
          <a:xfrm>
            <a:off x="4364431" y="2185416"/>
            <a:ext cx="7330745" cy="658368"/>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Thirty minutes, no fee, on your operation. You leave with a plain account of where the work is getting lost in your business — whether or not you go on.</a:t>
            </a:r>
            <a:endParaRPr lang="en-US" sz="950" dirty="0"/>
          </a:p>
        </p:txBody>
      </p:sp>
      <p:sp>
        <p:nvSpPr>
          <p:cNvPr id="15" name="Shape 13"/>
          <p:cNvSpPr/>
          <p:nvPr/>
        </p:nvSpPr>
        <p:spPr>
          <a:xfrm>
            <a:off x="508406" y="2953512"/>
            <a:ext cx="11186770" cy="0"/>
          </a:xfrm>
          <a:prstGeom prst="line">
            <a:avLst/>
          </a:prstGeom>
          <a:noFill/>
          <a:ln w="9525">
            <a:solidFill>
              <a:srgbClr val="D8D2C4"/>
            </a:solidFill>
            <a:prstDash val="solid"/>
          </a:ln>
        </p:spPr>
      </p:sp>
      <p:sp>
        <p:nvSpPr>
          <p:cNvPr id="16" name="Shape 14"/>
          <p:cNvSpPr/>
          <p:nvPr/>
        </p:nvSpPr>
        <p:spPr>
          <a:xfrm>
            <a:off x="508406" y="3172968"/>
            <a:ext cx="146304" cy="146304"/>
          </a:xfrm>
          <a:prstGeom prst="roundRect">
            <a:avLst>
              <a:gd name="adj" fmla="val 31250"/>
            </a:avLst>
          </a:prstGeom>
          <a:solidFill>
            <a:srgbClr val="8AACD9"/>
          </a:solidFill>
          <a:ln/>
        </p:spPr>
      </p:sp>
      <p:sp>
        <p:nvSpPr>
          <p:cNvPr id="17" name="Text 15"/>
          <p:cNvSpPr txBox="1"/>
          <p:nvPr/>
        </p:nvSpPr>
        <p:spPr>
          <a:xfrm>
            <a:off x="819302" y="3154680"/>
            <a:ext cx="54864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02</a:t>
            </a:r>
            <a:endParaRPr lang="en-US" sz="700" dirty="0"/>
          </a:p>
        </p:txBody>
      </p:sp>
      <p:sp>
        <p:nvSpPr>
          <p:cNvPr id="18" name="Text 16"/>
          <p:cNvSpPr txBox="1"/>
          <p:nvPr/>
        </p:nvSpPr>
        <p:spPr>
          <a:xfrm>
            <a:off x="1468526" y="3099816"/>
            <a:ext cx="256032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plan</a:t>
            </a:r>
            <a:endParaRPr lang="en-US" sz="1700" dirty="0"/>
          </a:p>
        </p:txBody>
      </p:sp>
      <p:sp>
        <p:nvSpPr>
          <p:cNvPr id="19" name="Text 17"/>
          <p:cNvSpPr txBox="1"/>
          <p:nvPr/>
        </p:nvSpPr>
        <p:spPr>
          <a:xfrm>
            <a:off x="4364431" y="3118104"/>
            <a:ext cx="7330745" cy="658368"/>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One page. Two prices, the cost of yes and the cost of no. Nothing you have to be taught to read.</a:t>
            </a:r>
            <a:endParaRPr lang="en-US" sz="950" dirty="0"/>
          </a:p>
        </p:txBody>
      </p:sp>
      <p:sp>
        <p:nvSpPr>
          <p:cNvPr id="20" name="Shape 18"/>
          <p:cNvSpPr/>
          <p:nvPr/>
        </p:nvSpPr>
        <p:spPr>
          <a:xfrm>
            <a:off x="508406" y="3886200"/>
            <a:ext cx="11186770" cy="0"/>
          </a:xfrm>
          <a:prstGeom prst="line">
            <a:avLst/>
          </a:prstGeom>
          <a:noFill/>
          <a:ln w="9525">
            <a:solidFill>
              <a:srgbClr val="D8D2C4"/>
            </a:solidFill>
            <a:prstDash val="solid"/>
          </a:ln>
        </p:spPr>
      </p:sp>
      <p:sp>
        <p:nvSpPr>
          <p:cNvPr id="21" name="Shape 19"/>
          <p:cNvSpPr/>
          <p:nvPr/>
        </p:nvSpPr>
        <p:spPr>
          <a:xfrm>
            <a:off x="508406" y="4105656"/>
            <a:ext cx="146304" cy="146304"/>
          </a:xfrm>
          <a:prstGeom prst="roundRect">
            <a:avLst>
              <a:gd name="adj" fmla="val 31250"/>
            </a:avLst>
          </a:prstGeom>
          <a:solidFill>
            <a:srgbClr val="F8DC55"/>
          </a:solidFill>
          <a:ln/>
        </p:spPr>
      </p:sp>
      <p:sp>
        <p:nvSpPr>
          <p:cNvPr id="22" name="Text 20"/>
          <p:cNvSpPr txBox="1"/>
          <p:nvPr/>
        </p:nvSpPr>
        <p:spPr>
          <a:xfrm>
            <a:off x="819302" y="4087368"/>
            <a:ext cx="54864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03</a:t>
            </a:r>
            <a:endParaRPr lang="en-US" sz="700" dirty="0"/>
          </a:p>
        </p:txBody>
      </p:sp>
      <p:sp>
        <p:nvSpPr>
          <p:cNvPr id="23" name="Text 21"/>
          <p:cNvSpPr txBox="1"/>
          <p:nvPr/>
        </p:nvSpPr>
        <p:spPr>
          <a:xfrm>
            <a:off x="1468526" y="4032504"/>
            <a:ext cx="256032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build</a:t>
            </a:r>
            <a:endParaRPr lang="en-US" sz="1700" dirty="0"/>
          </a:p>
        </p:txBody>
      </p:sp>
      <p:sp>
        <p:nvSpPr>
          <p:cNvPr id="24" name="Text 22"/>
          <p:cNvSpPr txBox="1"/>
          <p:nvPr/>
        </p:nvSpPr>
        <p:spPr>
          <a:xfrm>
            <a:off x="4364431" y="4050792"/>
            <a:ext cx="7330745" cy="658368"/>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A short word every week and a link to see the work as it grows.</a:t>
            </a:r>
            <a:endParaRPr lang="en-US" sz="950" dirty="0"/>
          </a:p>
        </p:txBody>
      </p:sp>
      <p:sp>
        <p:nvSpPr>
          <p:cNvPr id="25" name="Shape 23"/>
          <p:cNvSpPr/>
          <p:nvPr/>
        </p:nvSpPr>
        <p:spPr>
          <a:xfrm>
            <a:off x="508406" y="4818888"/>
            <a:ext cx="11186770" cy="0"/>
          </a:xfrm>
          <a:prstGeom prst="line">
            <a:avLst/>
          </a:prstGeom>
          <a:noFill/>
          <a:ln w="9525">
            <a:solidFill>
              <a:srgbClr val="D8D2C4"/>
            </a:solidFill>
            <a:prstDash val="solid"/>
          </a:ln>
        </p:spPr>
      </p:sp>
      <p:sp>
        <p:nvSpPr>
          <p:cNvPr id="26" name="Shape 24"/>
          <p:cNvSpPr/>
          <p:nvPr/>
        </p:nvSpPr>
        <p:spPr>
          <a:xfrm>
            <a:off x="508406" y="5038344"/>
            <a:ext cx="146304" cy="146304"/>
          </a:xfrm>
          <a:prstGeom prst="roundRect">
            <a:avLst>
              <a:gd name="adj" fmla="val 31250"/>
            </a:avLst>
          </a:prstGeom>
          <a:solidFill>
            <a:srgbClr val="A491CD"/>
          </a:solidFill>
          <a:ln/>
        </p:spPr>
      </p:sp>
      <p:sp>
        <p:nvSpPr>
          <p:cNvPr id="27" name="Text 25"/>
          <p:cNvSpPr txBox="1"/>
          <p:nvPr/>
        </p:nvSpPr>
        <p:spPr>
          <a:xfrm>
            <a:off x="819302" y="5020056"/>
            <a:ext cx="54864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04</a:t>
            </a:r>
            <a:endParaRPr lang="en-US" sz="700" dirty="0"/>
          </a:p>
        </p:txBody>
      </p:sp>
      <p:sp>
        <p:nvSpPr>
          <p:cNvPr id="28" name="Text 26"/>
          <p:cNvSpPr txBox="1"/>
          <p:nvPr/>
        </p:nvSpPr>
        <p:spPr>
          <a:xfrm>
            <a:off x="1468526" y="4965192"/>
            <a:ext cx="256032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keys</a:t>
            </a:r>
            <a:endParaRPr lang="en-US" sz="1700" dirty="0"/>
          </a:p>
        </p:txBody>
      </p:sp>
      <p:sp>
        <p:nvSpPr>
          <p:cNvPr id="29" name="Text 27"/>
          <p:cNvSpPr txBox="1"/>
          <p:nvPr/>
        </p:nvSpPr>
        <p:spPr>
          <a:xfrm>
            <a:off x="4364431" y="4983480"/>
            <a:ext cx="7330745" cy="658368"/>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The day it goes live you get everything, in one folder with your name on it.</a:t>
            </a:r>
            <a:endParaRPr lang="en-US" sz="950" dirty="0"/>
          </a:p>
        </p:txBody>
      </p:sp>
      <p:sp>
        <p:nvSpPr>
          <p:cNvPr id="30" name="Shape 28"/>
          <p:cNvSpPr/>
          <p:nvPr/>
        </p:nvSpPr>
        <p:spPr>
          <a:xfrm>
            <a:off x="508406" y="5751576"/>
            <a:ext cx="11186770" cy="0"/>
          </a:xfrm>
          <a:prstGeom prst="line">
            <a:avLst/>
          </a:prstGeom>
          <a:noFill/>
          <a:ln w="9525">
            <a:solidFill>
              <a:srgbClr val="D8D2C4"/>
            </a:solidFill>
            <a:prstDash val="solid"/>
          </a:ln>
        </p:spPr>
      </p:sp>
      <p:sp>
        <p:nvSpPr>
          <p:cNvPr id="31" name="Shape 29"/>
          <p:cNvSpPr/>
          <p:nvPr/>
        </p:nvSpPr>
        <p:spPr>
          <a:xfrm>
            <a:off x="508406" y="5971032"/>
            <a:ext cx="146304" cy="146304"/>
          </a:xfrm>
          <a:prstGeom prst="roundRect">
            <a:avLst>
              <a:gd name="adj" fmla="val 31250"/>
            </a:avLst>
          </a:prstGeom>
          <a:solidFill>
            <a:srgbClr val="8CBFA6"/>
          </a:solidFill>
          <a:ln/>
        </p:spPr>
      </p:sp>
      <p:sp>
        <p:nvSpPr>
          <p:cNvPr id="32" name="Text 30"/>
          <p:cNvSpPr txBox="1"/>
          <p:nvPr/>
        </p:nvSpPr>
        <p:spPr>
          <a:xfrm>
            <a:off x="819302" y="5952744"/>
            <a:ext cx="54864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05</a:t>
            </a:r>
            <a:endParaRPr lang="en-US" sz="700" dirty="0"/>
          </a:p>
        </p:txBody>
      </p:sp>
      <p:sp>
        <p:nvSpPr>
          <p:cNvPr id="33" name="Text 31"/>
          <p:cNvSpPr txBox="1"/>
          <p:nvPr/>
        </p:nvSpPr>
        <p:spPr>
          <a:xfrm>
            <a:off x="1468526" y="5897880"/>
            <a:ext cx="2560320" cy="329184"/>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quarterly call</a:t>
            </a:r>
            <a:endParaRPr lang="en-US" sz="1700" dirty="0"/>
          </a:p>
        </p:txBody>
      </p:sp>
      <p:sp>
        <p:nvSpPr>
          <p:cNvPr id="34" name="Text 32"/>
          <p:cNvSpPr txBox="1"/>
          <p:nvPr/>
        </p:nvSpPr>
        <p:spPr>
          <a:xfrm>
            <a:off x="4364431" y="5916168"/>
            <a:ext cx="7330745" cy="658368"/>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What came back, what changed, what is next. The system is yours; we keep it in good order.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5AFA0"/>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C3BDAF"/>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10</a:t>
            </a:r>
            <a:endParaRPr lang="en-US" sz="750" dirty="0"/>
          </a:p>
        </p:txBody>
      </p:sp>
      <p:sp>
        <p:nvSpPr>
          <p:cNvPr id="8" name="Text 6"/>
          <p:cNvSpPr txBox="1"/>
          <p:nvPr/>
        </p:nvSpPr>
        <p:spPr>
          <a:xfrm>
            <a:off x="508406" y="731520"/>
            <a:ext cx="4572000" cy="91440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Our promise</a:t>
            </a:r>
            <a:endParaRPr lang="en-US" sz="4300" dirty="0"/>
          </a:p>
        </p:txBody>
      </p:sp>
      <p:sp>
        <p:nvSpPr>
          <p:cNvPr id="9" name="Text 7"/>
          <p:cNvSpPr txBox="1"/>
          <p:nvPr/>
        </p:nvSpPr>
        <p:spPr>
          <a:xfrm>
            <a:off x="8220456" y="804672"/>
            <a:ext cx="3474720" cy="731520"/>
          </a:xfrm>
          <a:prstGeom prst="rect">
            <a:avLst/>
          </a:prstGeom>
          <a:noFill/>
          <a:ln/>
        </p:spPr>
        <p:txBody>
          <a:bodyPr wrap="square" lIns="0" tIns="0" rIns="0" bIns="0" rtlCol="0" anchor="t"/>
          <a:lstStyle/>
          <a:p>
            <a:pPr algn="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Three guarantees, written to the price of each system and named on the plan.</a:t>
            </a:r>
            <a:endParaRPr lang="en-US" sz="1250" dirty="0"/>
          </a:p>
        </p:txBody>
      </p:sp>
      <p:sp>
        <p:nvSpPr>
          <p:cNvPr id="10" name="Shape 8"/>
          <p:cNvSpPr/>
          <p:nvPr/>
        </p:nvSpPr>
        <p:spPr>
          <a:xfrm>
            <a:off x="508406" y="2020824"/>
            <a:ext cx="3474720" cy="3017520"/>
          </a:xfrm>
          <a:prstGeom prst="roundRect">
            <a:avLst>
              <a:gd name="adj" fmla="val 2727"/>
            </a:avLst>
          </a:prstGeom>
          <a:solidFill>
            <a:srgbClr val="E3F0E9"/>
          </a:solidFill>
          <a:ln/>
        </p:spPr>
      </p:sp>
      <p:sp>
        <p:nvSpPr>
          <p:cNvPr id="11" name="Text 9"/>
          <p:cNvSpPr txBox="1"/>
          <p:nvPr/>
        </p:nvSpPr>
        <p:spPr>
          <a:xfrm>
            <a:off x="782726" y="2267712"/>
            <a:ext cx="914400" cy="201168"/>
          </a:xfrm>
          <a:prstGeom prst="rect">
            <a:avLst/>
          </a:prstGeom>
          <a:noFill/>
          <a:ln/>
        </p:spPr>
        <p:txBody>
          <a:bodyPr wrap="square" lIns="0" tIns="0" rIns="0" bIns="0" rtlCol="0" anchor="t"/>
          <a:lstStyle/>
          <a:p>
            <a:pPr indent="0" marL="0">
              <a:buNone/>
            </a:pPr>
            <a:r>
              <a:rPr lang="en-US" sz="700" b="1" spc="180" kern="0" dirty="0">
                <a:solidFill>
                  <a:srgbClr val="37624D"/>
                </a:solidFill>
                <a:latin typeface="Manrope" pitchFamily="34" charset="0"/>
                <a:ea typeface="Manrope" pitchFamily="34" charset="-122"/>
                <a:cs typeface="Manrope" pitchFamily="34" charset="-120"/>
              </a:rPr>
              <a:t>01</a:t>
            </a:r>
            <a:endParaRPr lang="en-US" sz="700" dirty="0"/>
          </a:p>
        </p:txBody>
      </p:sp>
      <p:sp>
        <p:nvSpPr>
          <p:cNvPr id="12" name="Text 10"/>
          <p:cNvSpPr txBox="1"/>
          <p:nvPr/>
        </p:nvSpPr>
        <p:spPr>
          <a:xfrm>
            <a:off x="782726" y="2569464"/>
            <a:ext cx="2926080" cy="36576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Owner's Keys</a:t>
            </a:r>
            <a:endParaRPr lang="en-US" sz="1700" dirty="0"/>
          </a:p>
        </p:txBody>
      </p:sp>
      <p:sp>
        <p:nvSpPr>
          <p:cNvPr id="13" name="Text 11"/>
          <p:cNvSpPr txBox="1"/>
          <p:nvPr/>
        </p:nvSpPr>
        <p:spPr>
          <a:xfrm>
            <a:off x="782726" y="3090672"/>
            <a:ext cx="2926080" cy="173736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Everything is yours the day it goes live — the number, the messages, the records, the writing behind them. Stop governance whenever you like and the system keeps running.</a:t>
            </a:r>
            <a:endParaRPr lang="en-US" sz="950" dirty="0"/>
          </a:p>
        </p:txBody>
      </p:sp>
      <p:sp>
        <p:nvSpPr>
          <p:cNvPr id="14" name="Shape 12"/>
          <p:cNvSpPr/>
          <p:nvPr/>
        </p:nvSpPr>
        <p:spPr>
          <a:xfrm>
            <a:off x="4364431" y="2020824"/>
            <a:ext cx="3474720" cy="3017520"/>
          </a:xfrm>
          <a:prstGeom prst="roundRect">
            <a:avLst>
              <a:gd name="adj" fmla="val 2727"/>
            </a:avLst>
          </a:prstGeom>
          <a:solidFill>
            <a:srgbClr val="FDF6D5"/>
          </a:solidFill>
          <a:ln/>
        </p:spPr>
      </p:sp>
      <p:sp>
        <p:nvSpPr>
          <p:cNvPr id="15" name="Text 13"/>
          <p:cNvSpPr txBox="1"/>
          <p:nvPr/>
        </p:nvSpPr>
        <p:spPr>
          <a:xfrm>
            <a:off x="4638751" y="2267712"/>
            <a:ext cx="914400" cy="201168"/>
          </a:xfrm>
          <a:prstGeom prst="rect">
            <a:avLst/>
          </a:prstGeom>
          <a:noFill/>
          <a:ln/>
        </p:spPr>
        <p:txBody>
          <a:bodyPr wrap="square" lIns="0" tIns="0" rIns="0" bIns="0" rtlCol="0" anchor="t"/>
          <a:lstStyle/>
          <a:p>
            <a:pPr indent="0" marL="0">
              <a:buNone/>
            </a:pPr>
            <a:r>
              <a:rPr lang="en-US" sz="700" b="1" spc="180" kern="0" dirty="0">
                <a:solidFill>
                  <a:srgbClr val="695804"/>
                </a:solidFill>
                <a:latin typeface="Manrope" pitchFamily="34" charset="0"/>
                <a:ea typeface="Manrope" pitchFamily="34" charset="-122"/>
                <a:cs typeface="Manrope" pitchFamily="34" charset="-120"/>
              </a:rPr>
              <a:t>02</a:t>
            </a:r>
            <a:endParaRPr lang="en-US" sz="700" dirty="0"/>
          </a:p>
        </p:txBody>
      </p:sp>
      <p:sp>
        <p:nvSpPr>
          <p:cNvPr id="16" name="Text 14"/>
          <p:cNvSpPr txBox="1"/>
          <p:nvPr/>
        </p:nvSpPr>
        <p:spPr>
          <a:xfrm>
            <a:off x="4638751" y="2569464"/>
            <a:ext cx="2926080" cy="36576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Recovered Job</a:t>
            </a:r>
            <a:endParaRPr lang="en-US" sz="1700" dirty="0"/>
          </a:p>
        </p:txBody>
      </p:sp>
      <p:sp>
        <p:nvSpPr>
          <p:cNvPr id="17" name="Text 15"/>
          <p:cNvSpPr txBox="1"/>
          <p:nvPr/>
        </p:nvSpPr>
        <p:spPr>
          <a:xfrm>
            <a:off x="4638751" y="3090672"/>
            <a:ext cx="2926080" cy="173736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If, inside ninety days of going live, the system has not booked at least one job you would otherwise have missed, governance runs free until it does.</a:t>
            </a:r>
            <a:endParaRPr lang="en-US" sz="950" dirty="0"/>
          </a:p>
        </p:txBody>
      </p:sp>
      <p:sp>
        <p:nvSpPr>
          <p:cNvPr id="18" name="Shape 16"/>
          <p:cNvSpPr/>
          <p:nvPr/>
        </p:nvSpPr>
        <p:spPr>
          <a:xfrm>
            <a:off x="8220456" y="2020824"/>
            <a:ext cx="3474720" cy="3017520"/>
          </a:xfrm>
          <a:prstGeom prst="roundRect">
            <a:avLst>
              <a:gd name="adj" fmla="val 2727"/>
            </a:avLst>
          </a:prstGeom>
          <a:solidFill>
            <a:srgbClr val="F6DDDD"/>
          </a:solidFill>
          <a:ln/>
        </p:spPr>
      </p:sp>
      <p:sp>
        <p:nvSpPr>
          <p:cNvPr id="19" name="Text 17"/>
          <p:cNvSpPr txBox="1"/>
          <p:nvPr/>
        </p:nvSpPr>
        <p:spPr>
          <a:xfrm>
            <a:off x="8494776" y="2267712"/>
            <a:ext cx="914400" cy="201168"/>
          </a:xfrm>
          <a:prstGeom prst="rect">
            <a:avLst/>
          </a:prstGeom>
          <a:noFill/>
          <a:ln/>
        </p:spPr>
        <p:txBody>
          <a:bodyPr wrap="square" lIns="0" tIns="0" rIns="0" bIns="0" rtlCol="0" anchor="t"/>
          <a:lstStyle/>
          <a:p>
            <a:pPr indent="0" marL="0">
              <a:buNone/>
            </a:pPr>
            <a:r>
              <a:rPr lang="en-US" sz="700" b="1" spc="180" kern="0" dirty="0">
                <a:solidFill>
                  <a:srgbClr val="A72C2C"/>
                </a:solidFill>
                <a:latin typeface="Manrope" pitchFamily="34" charset="0"/>
                <a:ea typeface="Manrope" pitchFamily="34" charset="-122"/>
                <a:cs typeface="Manrope" pitchFamily="34" charset="-120"/>
              </a:rPr>
              <a:t>03</a:t>
            </a:r>
            <a:endParaRPr lang="en-US" sz="700" dirty="0"/>
          </a:p>
        </p:txBody>
      </p:sp>
      <p:sp>
        <p:nvSpPr>
          <p:cNvPr id="20" name="Text 18"/>
          <p:cNvSpPr txBox="1"/>
          <p:nvPr/>
        </p:nvSpPr>
        <p:spPr>
          <a:xfrm>
            <a:off x="8494776" y="2569464"/>
            <a:ext cx="2926080" cy="365760"/>
          </a:xfrm>
          <a:prstGeom prst="rect">
            <a:avLst/>
          </a:prstGeom>
          <a:noFill/>
          <a:ln/>
        </p:spPr>
        <p:txBody>
          <a:bodyPr wrap="square" lIns="0" tIns="0" rIns="0" bIns="0" rtlCol="0" anchor="t"/>
          <a:lstStyle/>
          <a:p>
            <a:pPr indent="0" marL="0">
              <a:lnSpc>
                <a:spcPct val="105000"/>
              </a:lnSpc>
              <a:buNone/>
            </a:pPr>
            <a:r>
              <a:rPr lang="en-US" sz="1700" dirty="0">
                <a:solidFill>
                  <a:srgbClr val="0F0F10"/>
                </a:solidFill>
                <a:latin typeface="Bookmania" pitchFamily="34" charset="0"/>
                <a:ea typeface="Bookmania" pitchFamily="34" charset="-122"/>
                <a:cs typeface="Bookmania" pitchFamily="34" charset="-120"/>
              </a:rPr>
              <a:t>The Walkaway</a:t>
            </a:r>
            <a:endParaRPr lang="en-US" sz="1700" dirty="0"/>
          </a:p>
        </p:txBody>
      </p:sp>
      <p:sp>
        <p:nvSpPr>
          <p:cNvPr id="21" name="Text 19"/>
          <p:cNvSpPr txBox="1"/>
          <p:nvPr/>
        </p:nvSpPr>
        <p:spPr>
          <a:xfrm>
            <a:off x="8494776" y="3090672"/>
            <a:ext cx="2926080" cy="173736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Thirty days after going live, if you would rather not keep it, we unplug it and refund the setup. The number stays yours.</a:t>
            </a:r>
            <a:endParaRPr lang="en-US" sz="950" dirty="0"/>
          </a:p>
        </p:txBody>
      </p:sp>
      <p:sp>
        <p:nvSpPr>
          <p:cNvPr id="22" name="Text 20"/>
          <p:cNvSpPr txBox="1"/>
          <p:nvPr/>
        </p:nvSpPr>
        <p:spPr>
          <a:xfrm>
            <a:off x="508406" y="5266944"/>
            <a:ext cx="7330745" cy="457200"/>
          </a:xfrm>
          <a:prstGeom prst="rect">
            <a:avLst/>
          </a:prstGeom>
          <a:noFill/>
          <a:ln/>
        </p:spPr>
        <p:txBody>
          <a:bodyPr wrap="square" lIns="0" tIns="0" rIns="0" bIns="0" rtlCol="0" anchor="t"/>
          <a:lstStyle/>
          <a:p>
            <a:pPr indent="0" marL="0">
              <a:lnSpc>
                <a:spcPct val="168000"/>
              </a:lnSpc>
              <a:buNone/>
            </a:pPr>
            <a:r>
              <a:rPr lang="en-US" sz="950" dirty="0">
                <a:solidFill>
                  <a:srgbClr val="3D3830"/>
                </a:solidFill>
                <a:latin typeface="Manrope" pitchFamily="34" charset="0"/>
                <a:ea typeface="Manrope" pitchFamily="34" charset="-122"/>
                <a:cs typeface="Manrope" pitchFamily="34" charset="-120"/>
              </a:rPr>
              <a:t>All three are conditional on the tracking that makes them measurable. None of them is stated as a warranty of revenue.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11</a:t>
            </a:r>
            <a:endParaRPr lang="en-US" sz="750" dirty="0"/>
          </a:p>
        </p:txBody>
      </p:sp>
      <p:sp>
        <p:nvSpPr>
          <p:cNvPr id="8" name="Text 6"/>
          <p:cNvSpPr txBox="1"/>
          <p:nvPr/>
        </p:nvSpPr>
        <p:spPr>
          <a:xfrm>
            <a:off x="508406" y="731520"/>
            <a:ext cx="4023360" cy="146304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What stands</a:t>
            </a:r>
            <a:endParaRPr lang="en-US" sz="4300" dirty="0"/>
          </a:p>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behind it</a:t>
            </a:r>
            <a:endParaRPr lang="en-US" sz="4300" dirty="0"/>
          </a:p>
        </p:txBody>
      </p:sp>
      <p:sp>
        <p:nvSpPr>
          <p:cNvPr id="9" name="Text 7"/>
          <p:cNvSpPr txBox="1"/>
          <p:nvPr/>
        </p:nvSpPr>
        <p:spPr>
          <a:xfrm>
            <a:off x="4364431" y="804672"/>
            <a:ext cx="3474720" cy="914400"/>
          </a:xfrm>
          <a:prstGeom prst="rect">
            <a:avLst/>
          </a:prstGeom>
          <a:noFill/>
          <a:ln/>
        </p:spPr>
        <p:txBody>
          <a:bodyPr wrap="square" lIns="0" tIns="0" rIns="0" bIns="0" rtlCol="0" anchor="t"/>
          <a:lstStyle/>
          <a:p>
            <a:pP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Not a pitch. A pattern — the systems themselves, running in the names of the companies that own them.</a:t>
            </a:r>
            <a:endParaRPr lang="en-US" sz="1250" dirty="0"/>
          </a:p>
        </p:txBody>
      </p:sp>
      <p:sp>
        <p:nvSpPr>
          <p:cNvPr id="10" name="Text 8"/>
          <p:cNvSpPr txBox="1"/>
          <p:nvPr/>
        </p:nvSpPr>
        <p:spPr>
          <a:xfrm>
            <a:off x="508406" y="2523744"/>
            <a:ext cx="3474720" cy="1097280"/>
          </a:xfrm>
          <a:prstGeom prst="rect">
            <a:avLst/>
          </a:prstGeom>
          <a:noFill/>
          <a:ln/>
        </p:spPr>
        <p:txBody>
          <a:bodyPr wrap="square" lIns="0" tIns="0" rIns="0" bIns="0" rtlCol="0" anchor="t"/>
          <a:lstStyle/>
          <a:p>
            <a:pPr indent="0" marL="0">
              <a:buNone/>
            </a:pPr>
            <a:r>
              <a:rPr lang="en-US" sz="6800" dirty="0">
                <a:solidFill>
                  <a:srgbClr val="0F0F10"/>
                </a:solidFill>
                <a:latin typeface="Bookmania" pitchFamily="34" charset="0"/>
                <a:ea typeface="Bookmania" pitchFamily="34" charset="-122"/>
                <a:cs typeface="Bookmania" pitchFamily="34" charset="-120"/>
              </a:rPr>
              <a:t>2021</a:t>
            </a:r>
            <a:endParaRPr lang="en-US" sz="6800" dirty="0"/>
          </a:p>
        </p:txBody>
      </p:sp>
      <p:sp>
        <p:nvSpPr>
          <p:cNvPr id="11" name="Shape 9"/>
          <p:cNvSpPr/>
          <p:nvPr/>
        </p:nvSpPr>
        <p:spPr>
          <a:xfrm>
            <a:off x="508406" y="3712464"/>
            <a:ext cx="3474720" cy="0"/>
          </a:xfrm>
          <a:prstGeom prst="line">
            <a:avLst/>
          </a:prstGeom>
          <a:noFill/>
          <a:ln w="9525">
            <a:solidFill>
              <a:srgbClr val="BDB4A2"/>
            </a:solidFill>
            <a:prstDash val="solid"/>
          </a:ln>
        </p:spPr>
      </p:sp>
      <p:sp>
        <p:nvSpPr>
          <p:cNvPr id="12" name="Text 10"/>
          <p:cNvSpPr txBox="1"/>
          <p:nvPr/>
        </p:nvSpPr>
        <p:spPr>
          <a:xfrm>
            <a:off x="508406" y="3913632"/>
            <a:ext cx="3474720" cy="109728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Founded in Decatur, Georgia, on the fifth day of the fifth month. Five years of systems that are still running.</a:t>
            </a:r>
            <a:endParaRPr lang="en-US" sz="950" dirty="0"/>
          </a:p>
        </p:txBody>
      </p:sp>
      <p:sp>
        <p:nvSpPr>
          <p:cNvPr id="13" name="Text 11"/>
          <p:cNvSpPr txBox="1"/>
          <p:nvPr/>
        </p:nvSpPr>
        <p:spPr>
          <a:xfrm>
            <a:off x="4364431" y="2523744"/>
            <a:ext cx="3474720" cy="1097280"/>
          </a:xfrm>
          <a:prstGeom prst="rect">
            <a:avLst/>
          </a:prstGeom>
          <a:noFill/>
          <a:ln/>
        </p:spPr>
        <p:txBody>
          <a:bodyPr wrap="square" lIns="0" tIns="0" rIns="0" bIns="0" rtlCol="0" anchor="t"/>
          <a:lstStyle/>
          <a:p>
            <a:pPr indent="0" marL="0">
              <a:buNone/>
            </a:pPr>
            <a:r>
              <a:rPr lang="en-US" sz="6800" dirty="0">
                <a:solidFill>
                  <a:srgbClr val="0F0F10"/>
                </a:solidFill>
                <a:latin typeface="Bookmania" pitchFamily="34" charset="0"/>
                <a:ea typeface="Bookmania" pitchFamily="34" charset="-122"/>
                <a:cs typeface="Bookmania" pitchFamily="34" charset="-120"/>
              </a:rPr>
              <a:t>5</a:t>
            </a:r>
            <a:endParaRPr lang="en-US" sz="6800" dirty="0"/>
          </a:p>
        </p:txBody>
      </p:sp>
      <p:sp>
        <p:nvSpPr>
          <p:cNvPr id="14" name="Shape 12"/>
          <p:cNvSpPr/>
          <p:nvPr/>
        </p:nvSpPr>
        <p:spPr>
          <a:xfrm>
            <a:off x="4364431" y="3712464"/>
            <a:ext cx="3474720" cy="0"/>
          </a:xfrm>
          <a:prstGeom prst="line">
            <a:avLst/>
          </a:prstGeom>
          <a:noFill/>
          <a:ln w="9525">
            <a:solidFill>
              <a:srgbClr val="BDB4A2"/>
            </a:solidFill>
            <a:prstDash val="solid"/>
          </a:ln>
        </p:spPr>
      </p:sp>
      <p:sp>
        <p:nvSpPr>
          <p:cNvPr id="15" name="Text 13"/>
          <p:cNvSpPr txBox="1"/>
          <p:nvPr/>
        </p:nvSpPr>
        <p:spPr>
          <a:xfrm>
            <a:off x="4364431" y="3913632"/>
            <a:ext cx="3474720" cy="109728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Organisations on the roll — school districts, universities and a city government among them — and each still runs what was built.</a:t>
            </a:r>
            <a:endParaRPr lang="en-US" sz="950" dirty="0"/>
          </a:p>
        </p:txBody>
      </p:sp>
      <p:sp>
        <p:nvSpPr>
          <p:cNvPr id="16" name="Text 14"/>
          <p:cNvSpPr txBox="1"/>
          <p:nvPr/>
        </p:nvSpPr>
        <p:spPr>
          <a:xfrm>
            <a:off x="8220456" y="2523744"/>
            <a:ext cx="3474720" cy="1097280"/>
          </a:xfrm>
          <a:prstGeom prst="rect">
            <a:avLst/>
          </a:prstGeom>
          <a:noFill/>
          <a:ln/>
        </p:spPr>
        <p:txBody>
          <a:bodyPr wrap="square" lIns="0" tIns="0" rIns="0" bIns="0" rtlCol="0" anchor="t"/>
          <a:lstStyle/>
          <a:p>
            <a:pPr indent="0" marL="0">
              <a:buNone/>
            </a:pPr>
            <a:r>
              <a:rPr lang="en-US" sz="6800" dirty="0">
                <a:solidFill>
                  <a:srgbClr val="0F0F10"/>
                </a:solidFill>
                <a:latin typeface="Bookmania" pitchFamily="34" charset="0"/>
                <a:ea typeface="Bookmania" pitchFamily="34" charset="-122"/>
                <a:cs typeface="Bookmania" pitchFamily="34" charset="-120"/>
              </a:rPr>
              <a:t>1</a:t>
            </a:r>
            <a:endParaRPr lang="en-US" sz="6800" dirty="0"/>
          </a:p>
        </p:txBody>
      </p:sp>
      <p:sp>
        <p:nvSpPr>
          <p:cNvPr id="17" name="Shape 15"/>
          <p:cNvSpPr/>
          <p:nvPr/>
        </p:nvSpPr>
        <p:spPr>
          <a:xfrm>
            <a:off x="8220456" y="3712464"/>
            <a:ext cx="3474720" cy="0"/>
          </a:xfrm>
          <a:prstGeom prst="line">
            <a:avLst/>
          </a:prstGeom>
          <a:noFill/>
          <a:ln w="9525">
            <a:solidFill>
              <a:srgbClr val="BDB4A2"/>
            </a:solidFill>
            <a:prstDash val="solid"/>
          </a:ln>
        </p:spPr>
      </p:sp>
      <p:sp>
        <p:nvSpPr>
          <p:cNvPr id="18" name="Text 16"/>
          <p:cNvSpPr txBox="1"/>
          <p:nvPr/>
        </p:nvSpPr>
        <p:spPr>
          <a:xfrm>
            <a:off x="8220456" y="3913632"/>
            <a:ext cx="3474720" cy="109728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Partner on every job. The person you meet on the first call is the person who builds and the person who answers for it.</a:t>
            </a:r>
            <a:endParaRPr lang="en-US" sz="950" dirty="0"/>
          </a:p>
        </p:txBody>
      </p:sp>
      <p:sp>
        <p:nvSpPr>
          <p:cNvPr id="19" name="Shape 17"/>
          <p:cNvSpPr/>
          <p:nvPr/>
        </p:nvSpPr>
        <p:spPr>
          <a:xfrm>
            <a:off x="0" y="5266944"/>
            <a:ext cx="12191695" cy="1591056"/>
          </a:xfrm>
          <a:prstGeom prst="rect">
            <a:avLst/>
          </a:prstGeom>
          <a:solidFill>
            <a:srgbClr val="D96E6E"/>
          </a:solidFill>
          <a:ln/>
        </p:spPr>
      </p:sp>
      <p:sp>
        <p:nvSpPr>
          <p:cNvPr id="20" name="Text 18"/>
          <p:cNvSpPr txBox="1"/>
          <p:nvPr/>
        </p:nvSpPr>
        <p:spPr>
          <a:xfrm>
            <a:off x="508406" y="5522976"/>
            <a:ext cx="8229600" cy="548640"/>
          </a:xfrm>
          <a:prstGeom prst="rect">
            <a:avLst/>
          </a:prstGeom>
          <a:noFill/>
          <a:ln/>
        </p:spPr>
        <p:txBody>
          <a:bodyPr wrap="square" lIns="0" tIns="0" rIns="0" bIns="0" rtlCol="0" anchor="t"/>
          <a:lstStyle/>
          <a:p>
            <a:pPr indent="0" marL="0">
              <a:buNone/>
            </a:pPr>
            <a:r>
              <a:rPr lang="en-US" sz="3000" dirty="0">
                <a:solidFill>
                  <a:srgbClr val="8F2020"/>
                </a:solidFill>
                <a:latin typeface="Bookmania" pitchFamily="34" charset="0"/>
                <a:ea typeface="Bookmania" pitchFamily="34" charset="-122"/>
                <a:cs typeface="Bookmania" pitchFamily="34" charset="-120"/>
              </a:rPr>
              <a:t>Never lose another job you could have won.</a:t>
            </a:r>
            <a:endParaRPr lang="en-US" sz="3000" dirty="0"/>
          </a:p>
        </p:txBody>
      </p:sp>
      <p:sp>
        <p:nvSpPr>
          <p:cNvPr id="21" name="Text 19"/>
          <p:cNvSpPr txBox="1"/>
          <p:nvPr/>
        </p:nvSpPr>
        <p:spPr>
          <a:xfrm>
            <a:off x="508406" y="6044184"/>
            <a:ext cx="8229600" cy="274320"/>
          </a:xfrm>
          <a:prstGeom prst="rect">
            <a:avLst/>
          </a:prstGeom>
          <a:noFill/>
          <a:ln/>
        </p:spPr>
        <p:txBody>
          <a:bodyPr wrap="square" lIns="0" tIns="0" rIns="0" bIns="0" rtlCol="0" anchor="t"/>
          <a:lstStyle/>
          <a:p>
            <a:pPr indent="0" marL="0">
              <a:buNone/>
            </a:pPr>
            <a:r>
              <a:rPr lang="en-US" sz="800" dirty="0">
                <a:solidFill>
                  <a:srgbClr val="8F2020"/>
                </a:solidFill>
                <a:latin typeface="Manrope" pitchFamily="34" charset="0"/>
                <a:ea typeface="Manrope" pitchFamily="34" charset="-122"/>
                <a:cs typeface="Manrope" pitchFamily="34" charset="-120"/>
              </a:rPr>
              <a:t>The promise we make to the trades, where the phone is the whole business.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12</a:t>
            </a:r>
            <a:endParaRPr lang="en-US" sz="750" dirty="0"/>
          </a:p>
        </p:txBody>
      </p:sp>
      <p:sp>
        <p:nvSpPr>
          <p:cNvPr id="8" name="Text 6"/>
          <p:cNvSpPr txBox="1"/>
          <p:nvPr/>
        </p:nvSpPr>
        <p:spPr>
          <a:xfrm>
            <a:off x="508406" y="731520"/>
            <a:ext cx="4572000" cy="91440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The work</a:t>
            </a:r>
            <a:endParaRPr lang="en-US" sz="4300" dirty="0"/>
          </a:p>
        </p:txBody>
      </p:sp>
      <p:sp>
        <p:nvSpPr>
          <p:cNvPr id="9" name="Text 7"/>
          <p:cNvSpPr txBox="1"/>
          <p:nvPr/>
        </p:nvSpPr>
        <p:spPr>
          <a:xfrm>
            <a:off x="8220456" y="804672"/>
            <a:ext cx="3474720" cy="914400"/>
          </a:xfrm>
          <a:prstGeom prst="rect">
            <a:avLst/>
          </a:prstGeom>
          <a:noFill/>
          <a:ln/>
        </p:spPr>
        <p:txBody>
          <a:bodyPr wrap="square" lIns="0" tIns="0" rIns="0" bIns="0" rtlCol="0" anchor="t"/>
          <a:lstStyle/>
          <a:p>
            <a:pPr algn="r" indent="0" marL="0">
              <a:lnSpc>
                <a:spcPct val="130000"/>
              </a:lnSpc>
              <a:buNone/>
            </a:pPr>
            <a:r>
              <a:rPr lang="en-US" sz="1250" dirty="0">
                <a:solidFill>
                  <a:srgbClr val="0F0F10"/>
                </a:solidFill>
                <a:latin typeface="Bookmania" pitchFamily="34" charset="0"/>
                <a:ea typeface="Bookmania" pitchFamily="34" charset="-122"/>
                <a:cs typeface="Bookmania" pitchFamily="34" charset="-120"/>
              </a:rPr>
              <a:t>A body of systems built for owner-operators and the organisations that serve them. Each one still runs in the name of the company that owns it.</a:t>
            </a:r>
            <a:endParaRPr lang="en-US" sz="1250" dirty="0"/>
          </a:p>
        </p:txBody>
      </p:sp>
      <p:sp>
        <p:nvSpPr>
          <p:cNvPr id="10" name="Shape 8"/>
          <p:cNvSpPr/>
          <p:nvPr/>
        </p:nvSpPr>
        <p:spPr>
          <a:xfrm>
            <a:off x="508406" y="2020824"/>
            <a:ext cx="7330745" cy="2148840"/>
          </a:xfrm>
          <a:prstGeom prst="roundRect">
            <a:avLst>
              <a:gd name="adj" fmla="val 3830"/>
            </a:avLst>
          </a:prstGeom>
          <a:solidFill>
            <a:srgbClr val="EDEAE3"/>
          </a:solidFill>
          <a:ln w="9525">
            <a:solidFill>
              <a:srgbClr val="D8D2C4"/>
            </a:solidFill>
            <a:prstDash val="solid"/>
          </a:ln>
        </p:spPr>
      </p:sp>
      <p:sp>
        <p:nvSpPr>
          <p:cNvPr id="11" name="Text 9"/>
          <p:cNvSpPr txBox="1"/>
          <p:nvPr/>
        </p:nvSpPr>
        <p:spPr>
          <a:xfrm>
            <a:off x="508406" y="2948940"/>
            <a:ext cx="7330745"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CASE STUDY</a:t>
            </a:r>
            <a:endParaRPr lang="en-US" sz="700" dirty="0"/>
          </a:p>
        </p:txBody>
      </p:sp>
      <p:sp>
        <p:nvSpPr>
          <p:cNvPr id="12" name="Text 10"/>
          <p:cNvSpPr txBox="1"/>
          <p:nvPr/>
        </p:nvSpPr>
        <p:spPr>
          <a:xfrm>
            <a:off x="508406" y="4288536"/>
            <a:ext cx="7330745"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SPEED TO LEAD  ·  A ROOFING COMPANY IN DEKALB</a:t>
            </a:r>
            <a:endParaRPr lang="en-US" sz="700" dirty="0"/>
          </a:p>
        </p:txBody>
      </p:sp>
      <p:sp>
        <p:nvSpPr>
          <p:cNvPr id="13" name="Shape 11"/>
          <p:cNvSpPr/>
          <p:nvPr/>
        </p:nvSpPr>
        <p:spPr>
          <a:xfrm>
            <a:off x="8220456" y="2020824"/>
            <a:ext cx="3474720" cy="2148840"/>
          </a:xfrm>
          <a:prstGeom prst="roundRect">
            <a:avLst>
              <a:gd name="adj" fmla="val 3830"/>
            </a:avLst>
          </a:prstGeom>
          <a:solidFill>
            <a:srgbClr val="EDEAE3"/>
          </a:solidFill>
          <a:ln w="9525">
            <a:solidFill>
              <a:srgbClr val="D8D2C4"/>
            </a:solidFill>
            <a:prstDash val="solid"/>
          </a:ln>
        </p:spPr>
      </p:sp>
      <p:sp>
        <p:nvSpPr>
          <p:cNvPr id="14" name="Text 12"/>
          <p:cNvSpPr txBox="1"/>
          <p:nvPr/>
        </p:nvSpPr>
        <p:spPr>
          <a:xfrm>
            <a:off x="8220456" y="2948940"/>
            <a:ext cx="34747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CASE STUDY</a:t>
            </a:r>
            <a:endParaRPr lang="en-US" sz="700" dirty="0"/>
          </a:p>
        </p:txBody>
      </p:sp>
      <p:sp>
        <p:nvSpPr>
          <p:cNvPr id="15" name="Text 13"/>
          <p:cNvSpPr txBox="1"/>
          <p:nvPr/>
        </p:nvSpPr>
        <p:spPr>
          <a:xfrm>
            <a:off x="8220456" y="4288536"/>
            <a:ext cx="347472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AFTER-HOURS CAPTURE  ·  HVAC, SOUTH METRO</a:t>
            </a:r>
            <a:endParaRPr lang="en-US" sz="700" dirty="0"/>
          </a:p>
        </p:txBody>
      </p:sp>
      <p:sp>
        <p:nvSpPr>
          <p:cNvPr id="16" name="Shape 14"/>
          <p:cNvSpPr/>
          <p:nvPr/>
        </p:nvSpPr>
        <p:spPr>
          <a:xfrm>
            <a:off x="508406" y="4535424"/>
            <a:ext cx="3474720" cy="1783080"/>
          </a:xfrm>
          <a:prstGeom prst="roundRect">
            <a:avLst>
              <a:gd name="adj" fmla="val 4615"/>
            </a:avLst>
          </a:prstGeom>
          <a:solidFill>
            <a:srgbClr val="EDEAE3"/>
          </a:solidFill>
          <a:ln w="9525">
            <a:solidFill>
              <a:srgbClr val="D8D2C4"/>
            </a:solidFill>
            <a:prstDash val="solid"/>
          </a:ln>
        </p:spPr>
      </p:sp>
      <p:sp>
        <p:nvSpPr>
          <p:cNvPr id="17" name="Text 15"/>
          <p:cNvSpPr txBox="1"/>
          <p:nvPr/>
        </p:nvSpPr>
        <p:spPr>
          <a:xfrm>
            <a:off x="508406" y="5280660"/>
            <a:ext cx="34747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CASE STUDY</a:t>
            </a:r>
            <a:endParaRPr lang="en-US" sz="700" dirty="0"/>
          </a:p>
        </p:txBody>
      </p:sp>
      <p:sp>
        <p:nvSpPr>
          <p:cNvPr id="18" name="Text 16"/>
          <p:cNvSpPr txBox="1"/>
          <p:nvPr/>
        </p:nvSpPr>
        <p:spPr>
          <a:xfrm>
            <a:off x="508406" y="6437376"/>
            <a:ext cx="347472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DATABASE REACTIVATION  ·  GARAGE DOORS</a:t>
            </a:r>
            <a:endParaRPr lang="en-US" sz="700" dirty="0"/>
          </a:p>
        </p:txBody>
      </p:sp>
      <p:sp>
        <p:nvSpPr>
          <p:cNvPr id="19" name="Shape 17"/>
          <p:cNvSpPr/>
          <p:nvPr/>
        </p:nvSpPr>
        <p:spPr>
          <a:xfrm>
            <a:off x="4364431" y="4535424"/>
            <a:ext cx="3474720" cy="1783080"/>
          </a:xfrm>
          <a:prstGeom prst="roundRect">
            <a:avLst>
              <a:gd name="adj" fmla="val 4615"/>
            </a:avLst>
          </a:prstGeom>
          <a:solidFill>
            <a:srgbClr val="EDEAE3"/>
          </a:solidFill>
          <a:ln w="9525">
            <a:solidFill>
              <a:srgbClr val="D8D2C4"/>
            </a:solidFill>
            <a:prstDash val="solid"/>
          </a:ln>
        </p:spPr>
      </p:sp>
      <p:sp>
        <p:nvSpPr>
          <p:cNvPr id="20" name="Text 18"/>
          <p:cNvSpPr txBox="1"/>
          <p:nvPr/>
        </p:nvSpPr>
        <p:spPr>
          <a:xfrm>
            <a:off x="4364431" y="5280660"/>
            <a:ext cx="34747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CASE STUDY</a:t>
            </a:r>
            <a:endParaRPr lang="en-US" sz="700" dirty="0"/>
          </a:p>
        </p:txBody>
      </p:sp>
      <p:sp>
        <p:nvSpPr>
          <p:cNvPr id="21" name="Text 19"/>
          <p:cNvSpPr txBox="1"/>
          <p:nvPr/>
        </p:nvSpPr>
        <p:spPr>
          <a:xfrm>
            <a:off x="4364431" y="6437376"/>
            <a:ext cx="347472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WEBSITE ENGINEERING  ·  A CHURCH IN EAST POINT</a:t>
            </a:r>
            <a:endParaRPr lang="en-US" sz="700" dirty="0"/>
          </a:p>
        </p:txBody>
      </p:sp>
      <p:sp>
        <p:nvSpPr>
          <p:cNvPr id="22" name="Shape 20"/>
          <p:cNvSpPr/>
          <p:nvPr/>
        </p:nvSpPr>
        <p:spPr>
          <a:xfrm>
            <a:off x="8220456" y="4535424"/>
            <a:ext cx="3474720" cy="1783080"/>
          </a:xfrm>
          <a:prstGeom prst="roundRect">
            <a:avLst>
              <a:gd name="adj" fmla="val 4615"/>
            </a:avLst>
          </a:prstGeom>
          <a:solidFill>
            <a:srgbClr val="EDEAE3"/>
          </a:solidFill>
          <a:ln w="9525">
            <a:solidFill>
              <a:srgbClr val="D8D2C4"/>
            </a:solidFill>
            <a:prstDash val="solid"/>
          </a:ln>
        </p:spPr>
      </p:sp>
      <p:sp>
        <p:nvSpPr>
          <p:cNvPr id="23" name="Text 21"/>
          <p:cNvSpPr txBox="1"/>
          <p:nvPr/>
        </p:nvSpPr>
        <p:spPr>
          <a:xfrm>
            <a:off x="8220456" y="5280660"/>
            <a:ext cx="34747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CASE STUDY</a:t>
            </a:r>
            <a:endParaRPr lang="en-US" sz="700" dirty="0"/>
          </a:p>
        </p:txBody>
      </p:sp>
      <p:sp>
        <p:nvSpPr>
          <p:cNvPr id="24" name="Text 22"/>
          <p:cNvSpPr txBox="1"/>
          <p:nvPr/>
        </p:nvSpPr>
        <p:spPr>
          <a:xfrm>
            <a:off x="8220456" y="6437376"/>
            <a:ext cx="347472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BRAND IDENTITY  ·  A WINDOW TRADE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F8F8F8"/>
          </a:solidFill>
          <a:ln/>
        </p:spPr>
      </p:sp>
      <p:sp>
        <p:nvSpPr>
          <p:cNvPr id="3" name="Shape 1"/>
          <p:cNvSpPr/>
          <p:nvPr/>
        </p:nvSpPr>
        <p:spPr>
          <a:xfrm>
            <a:off x="0" y="237744"/>
            <a:ext cx="12191695" cy="0"/>
          </a:xfrm>
          <a:prstGeom prst="line">
            <a:avLst/>
          </a:prstGeom>
          <a:noFill/>
          <a:ln w="9525">
            <a:solidFill>
              <a:srgbClr val="0F0F10"/>
            </a:solidFill>
            <a:prstDash val="solid"/>
          </a:ln>
        </p:spPr>
      </p:sp>
      <p:sp>
        <p:nvSpPr>
          <p:cNvPr id="4" name="Text 2"/>
          <p:cNvSpPr txBox="1"/>
          <p:nvPr/>
        </p:nvSpPr>
        <p:spPr>
          <a:xfrm>
            <a:off x="508406" y="50292"/>
            <a:ext cx="292608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Five Points Digital Studio</a:t>
            </a:r>
            <a:endParaRPr lang="en-US" sz="750" dirty="0"/>
          </a:p>
        </p:txBody>
      </p:sp>
      <p:sp>
        <p:nvSpPr>
          <p:cNvPr id="5" name="Text 3"/>
          <p:cNvSpPr txBox="1"/>
          <p:nvPr/>
        </p:nvSpPr>
        <p:spPr>
          <a:xfrm>
            <a:off x="4364431" y="50292"/>
            <a:ext cx="329184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Capabilities</a:t>
            </a:r>
            <a:endParaRPr lang="en-US" sz="750" dirty="0"/>
          </a:p>
        </p:txBody>
      </p:sp>
      <p:sp>
        <p:nvSpPr>
          <p:cNvPr id="6" name="Text 4"/>
          <p:cNvSpPr txBox="1"/>
          <p:nvPr/>
        </p:nvSpPr>
        <p:spPr>
          <a:xfrm>
            <a:off x="8220456" y="50292"/>
            <a:ext cx="1828800" cy="146304"/>
          </a:xfrm>
          <a:prstGeom prst="rect">
            <a:avLst/>
          </a:prstGeom>
          <a:noFill/>
          <a:ln/>
        </p:spPr>
        <p:txBody>
          <a:bodyPr wrap="square" lIns="0" tIns="0" rIns="0" bIns="0" rtlCol="0" anchor="ctr"/>
          <a:lstStyle/>
          <a:p>
            <a:pPr algn="l" indent="0" marL="0">
              <a:buNone/>
            </a:pPr>
            <a:r>
              <a:rPr lang="en-US" sz="750" dirty="0">
                <a:solidFill>
                  <a:srgbClr val="0F0F10"/>
                </a:solidFill>
                <a:latin typeface="Manrope" pitchFamily="34" charset="0"/>
                <a:ea typeface="Manrope" pitchFamily="34" charset="-122"/>
                <a:cs typeface="Manrope" pitchFamily="34" charset="-120"/>
              </a:rPr>
              <a:t>2026</a:t>
            </a:r>
            <a:endParaRPr lang="en-US" sz="750" dirty="0"/>
          </a:p>
        </p:txBody>
      </p:sp>
      <p:sp>
        <p:nvSpPr>
          <p:cNvPr id="7" name="Text 5"/>
          <p:cNvSpPr txBox="1"/>
          <p:nvPr/>
        </p:nvSpPr>
        <p:spPr>
          <a:xfrm>
            <a:off x="10415016" y="50292"/>
            <a:ext cx="1280160" cy="146304"/>
          </a:xfrm>
          <a:prstGeom prst="rect">
            <a:avLst/>
          </a:prstGeom>
          <a:noFill/>
          <a:ln/>
        </p:spPr>
        <p:txBody>
          <a:bodyPr wrap="square" lIns="0" tIns="0" rIns="0" bIns="0" rtlCol="0" anchor="ctr"/>
          <a:lstStyle/>
          <a:p>
            <a:pPr algn="r" indent="0" marL="0">
              <a:buNone/>
            </a:pPr>
            <a:r>
              <a:rPr lang="en-US" sz="750" dirty="0">
                <a:solidFill>
                  <a:srgbClr val="0F0F10"/>
                </a:solidFill>
                <a:latin typeface="Manrope" pitchFamily="34" charset="0"/>
                <a:ea typeface="Manrope" pitchFamily="34" charset="-122"/>
                <a:cs typeface="Manrope" pitchFamily="34" charset="-120"/>
              </a:rPr>
              <a:t>pg 13</a:t>
            </a:r>
            <a:endParaRPr lang="en-US" sz="750" dirty="0"/>
          </a:p>
        </p:txBody>
      </p:sp>
      <p:sp>
        <p:nvSpPr>
          <p:cNvPr id="8" name="Text 6"/>
          <p:cNvSpPr txBox="1"/>
          <p:nvPr/>
        </p:nvSpPr>
        <p:spPr>
          <a:xfrm>
            <a:off x="508406" y="731520"/>
            <a:ext cx="7330745" cy="2377440"/>
          </a:xfrm>
          <a:prstGeom prst="rect">
            <a:avLst/>
          </a:prstGeom>
          <a:noFill/>
          <a:ln/>
        </p:spPr>
        <p:txBody>
          <a:bodyPr wrap="square" lIns="0" tIns="0" rIns="0" bIns="0" rtlCol="0" anchor="t"/>
          <a:lstStyle/>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Thirty minutes.</a:t>
            </a:r>
            <a:endParaRPr lang="en-US" sz="4300" dirty="0"/>
          </a:p>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No fee. On your</a:t>
            </a:r>
            <a:endParaRPr lang="en-US" sz="4300" dirty="0"/>
          </a:p>
          <a:p>
            <a:pPr indent="0" marL="0">
              <a:lnSpc>
                <a:spcPct val="105000"/>
              </a:lnSpc>
              <a:buNone/>
            </a:pPr>
            <a:r>
              <a:rPr lang="en-US" sz="4300" dirty="0">
                <a:solidFill>
                  <a:srgbClr val="0F0F10"/>
                </a:solidFill>
                <a:latin typeface="Bookmania" pitchFamily="34" charset="0"/>
                <a:ea typeface="Bookmania" pitchFamily="34" charset="-122"/>
                <a:cs typeface="Bookmania" pitchFamily="34" charset="-120"/>
              </a:rPr>
              <a:t>operation, not ours.</a:t>
            </a:r>
            <a:endParaRPr lang="en-US" sz="4300" dirty="0"/>
          </a:p>
        </p:txBody>
      </p:sp>
      <p:sp>
        <p:nvSpPr>
          <p:cNvPr id="9" name="Text 7"/>
          <p:cNvSpPr txBox="1"/>
          <p:nvPr/>
        </p:nvSpPr>
        <p:spPr>
          <a:xfrm>
            <a:off x="508406" y="3575304"/>
            <a:ext cx="3474720" cy="1828800"/>
          </a:xfrm>
          <a:prstGeom prst="rect">
            <a:avLst/>
          </a:prstGeom>
          <a:noFill/>
          <a:ln/>
        </p:spPr>
        <p:txBody>
          <a:bodyPr wrap="square" lIns="0" tIns="0" rIns="0" bIns="0" rtlCol="0" anchor="t"/>
          <a:lstStyle/>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You leave with a plain account of where the work is getting lost in your business — the lead that waits, the call that comes at night, the list nobody calls — whether or not you go on.</a:t>
            </a:r>
            <a:endParaRPr lang="en-US" sz="950" dirty="0"/>
          </a:p>
          <a:p>
            <a:pPr indent="0" marL="0">
              <a:lnSpc>
                <a:spcPct val="168000"/>
              </a:lnSpc>
              <a:buNone/>
            </a:pPr>
            <a:endParaRPr lang="en-US" sz="950" dirty="0"/>
          </a:p>
          <a:p>
            <a:pPr indent="0" marL="0">
              <a:lnSpc>
                <a:spcPct val="168000"/>
              </a:lnSpc>
              <a:buNone/>
            </a:pPr>
            <a:r>
              <a:rPr lang="en-US" sz="950" dirty="0">
                <a:solidFill>
                  <a:srgbClr val="1C1A17"/>
                </a:solidFill>
                <a:latin typeface="Manrope" pitchFamily="34" charset="0"/>
                <a:ea typeface="Manrope" pitchFamily="34" charset="-122"/>
                <a:cs typeface="Manrope" pitchFamily="34" charset="-120"/>
              </a:rPr>
              <a:t>If you do, the plan follows on one page with two prices on it: the cost of yes and the cost of no, both in your own numbers.</a:t>
            </a:r>
            <a:endParaRPr lang="en-US" sz="950" dirty="0"/>
          </a:p>
        </p:txBody>
      </p:sp>
      <p:sp>
        <p:nvSpPr>
          <p:cNvPr id="10" name="Shape 8"/>
          <p:cNvSpPr/>
          <p:nvPr/>
        </p:nvSpPr>
        <p:spPr>
          <a:xfrm>
            <a:off x="8220456" y="768096"/>
            <a:ext cx="1431036" cy="256032"/>
          </a:xfrm>
          <a:prstGeom prst="roundRect">
            <a:avLst>
              <a:gd name="adj" fmla="val 17857"/>
            </a:avLst>
          </a:prstGeom>
          <a:solidFill>
            <a:srgbClr val="0F0F10"/>
          </a:solidFill>
          <a:ln/>
        </p:spPr>
      </p:sp>
      <p:sp>
        <p:nvSpPr>
          <p:cNvPr id="11" name="Text 9"/>
          <p:cNvSpPr txBox="1"/>
          <p:nvPr/>
        </p:nvSpPr>
        <p:spPr>
          <a:xfrm>
            <a:off x="8330184" y="818388"/>
            <a:ext cx="1211580" cy="164592"/>
          </a:xfrm>
          <a:prstGeom prst="rect">
            <a:avLst/>
          </a:prstGeom>
          <a:noFill/>
          <a:ln/>
        </p:spPr>
        <p:txBody>
          <a:bodyPr wrap="square" lIns="0" tIns="0" rIns="0" bIns="0" rtlCol="0" anchor="ctr"/>
          <a:lstStyle/>
          <a:p>
            <a:pPr indent="0" marL="0">
              <a:buNone/>
            </a:pPr>
            <a:r>
              <a:rPr lang="en-US" sz="700" dirty="0">
                <a:solidFill>
                  <a:srgbClr val="EAE0C8"/>
                </a:solidFill>
                <a:latin typeface="Manrope" pitchFamily="34" charset="0"/>
                <a:ea typeface="Manrope" pitchFamily="34" charset="-122"/>
                <a:cs typeface="Manrope" pitchFamily="34" charset="-120"/>
              </a:rPr>
              <a:t>Book the first call</a:t>
            </a:r>
            <a:endParaRPr lang="en-US" sz="700" dirty="0"/>
          </a:p>
        </p:txBody>
      </p:sp>
      <p:sp>
        <p:nvSpPr>
          <p:cNvPr id="12" name="Shape 10"/>
          <p:cNvSpPr/>
          <p:nvPr/>
        </p:nvSpPr>
        <p:spPr>
          <a:xfrm>
            <a:off x="8220456" y="1024128"/>
            <a:ext cx="3474720" cy="1234440"/>
          </a:xfrm>
          <a:prstGeom prst="roundRect">
            <a:avLst>
              <a:gd name="adj" fmla="val 6667"/>
            </a:avLst>
          </a:prstGeom>
          <a:solidFill>
            <a:srgbClr val="FFFFFF"/>
          </a:solidFill>
          <a:ln w="9525">
            <a:solidFill>
              <a:srgbClr val="D8D2C4"/>
            </a:solidFill>
            <a:prstDash val="solid"/>
          </a:ln>
        </p:spPr>
      </p:sp>
      <p:sp>
        <p:nvSpPr>
          <p:cNvPr id="13" name="Text 11"/>
          <p:cNvSpPr txBox="1"/>
          <p:nvPr/>
        </p:nvSpPr>
        <p:spPr>
          <a:xfrm>
            <a:off x="8458200" y="1207008"/>
            <a:ext cx="2999232" cy="365760"/>
          </a:xfrm>
          <a:prstGeom prst="rect">
            <a:avLst/>
          </a:prstGeom>
          <a:noFill/>
          <a:ln/>
        </p:spPr>
        <p:txBody>
          <a:bodyPr wrap="square" lIns="0" tIns="0" rIns="0" bIns="0" rtlCol="0" anchor="t"/>
          <a:lstStyle/>
          <a:p>
            <a:pPr indent="0" marL="0">
              <a:lnSpc>
                <a:spcPct val="124000"/>
              </a:lnSpc>
              <a:buNone/>
            </a:pPr>
            <a:r>
              <a:rPr lang="en-US" sz="1700" dirty="0">
                <a:solidFill>
                  <a:srgbClr val="0F0F10"/>
                </a:solidFill>
                <a:latin typeface="Bookmania" pitchFamily="34" charset="0"/>
                <a:ea typeface="Bookmania" pitchFamily="34" charset="-122"/>
                <a:cs typeface="Bookmania" pitchFamily="34" charset="-120"/>
              </a:rPr>
              <a:t>hello@fivepoints.studio</a:t>
            </a:r>
            <a:endParaRPr lang="en-US" sz="1700" dirty="0"/>
          </a:p>
        </p:txBody>
      </p:sp>
      <p:sp>
        <p:nvSpPr>
          <p:cNvPr id="14" name="Text 12"/>
          <p:cNvSpPr txBox="1"/>
          <p:nvPr/>
        </p:nvSpPr>
        <p:spPr>
          <a:xfrm>
            <a:off x="8458200" y="1572768"/>
            <a:ext cx="2999232" cy="594360"/>
          </a:xfrm>
          <a:prstGeom prst="rect">
            <a:avLst/>
          </a:prstGeom>
          <a:noFill/>
          <a:ln/>
        </p:spPr>
        <p:txBody>
          <a:bodyPr wrap="square" lIns="0" tIns="0" rIns="0" bIns="0" rtlCol="0" anchor="t"/>
          <a:lstStyle/>
          <a:p>
            <a:pPr indent="0" marL="0">
              <a:lnSpc>
                <a:spcPct val="168000"/>
              </a:lnSpc>
              <a:buNone/>
            </a:pPr>
            <a:r>
              <a:rPr lang="en-US" sz="800" dirty="0">
                <a:solidFill>
                  <a:srgbClr val="7A7264"/>
                </a:solidFill>
                <a:latin typeface="Manrope" pitchFamily="34" charset="0"/>
                <a:ea typeface="Manrope" pitchFamily="34" charset="-122"/>
                <a:cs typeface="Manrope" pitchFamily="34" charset="-120"/>
              </a:rPr>
              <a:t>fivepoints.studio  ·  Decatur, Georgia</a:t>
            </a:r>
            <a:endParaRPr lang="en-US" sz="800" dirty="0"/>
          </a:p>
          <a:p>
            <a:pPr indent="0" marL="0">
              <a:lnSpc>
                <a:spcPct val="168000"/>
              </a:lnSpc>
              <a:buNone/>
            </a:pPr>
            <a:r>
              <a:rPr lang="en-US" sz="800" dirty="0">
                <a:solidFill>
                  <a:srgbClr val="7A7264"/>
                </a:solidFill>
                <a:latin typeface="Manrope" pitchFamily="34" charset="0"/>
                <a:ea typeface="Manrope" pitchFamily="34" charset="-122"/>
                <a:cs typeface="Manrope" pitchFamily="34" charset="-120"/>
              </a:rPr>
              <a:t>+1 470 556 3989</a:t>
            </a:r>
            <a:endParaRPr lang="en-US" sz="800" dirty="0"/>
          </a:p>
        </p:txBody>
      </p:sp>
      <p:sp>
        <p:nvSpPr>
          <p:cNvPr id="15" name="Shape 13"/>
          <p:cNvSpPr/>
          <p:nvPr/>
        </p:nvSpPr>
        <p:spPr>
          <a:xfrm>
            <a:off x="8220456" y="2478024"/>
            <a:ext cx="3474720" cy="2651760"/>
          </a:xfrm>
          <a:prstGeom prst="roundRect">
            <a:avLst>
              <a:gd name="adj" fmla="val 3103"/>
            </a:avLst>
          </a:prstGeom>
          <a:solidFill>
            <a:srgbClr val="EDEAE3"/>
          </a:solidFill>
          <a:ln w="9525">
            <a:solidFill>
              <a:srgbClr val="D8D2C4"/>
            </a:solidFill>
            <a:prstDash val="solid"/>
          </a:ln>
        </p:spPr>
      </p:sp>
      <p:sp>
        <p:nvSpPr>
          <p:cNvPr id="16" name="Text 14"/>
          <p:cNvSpPr txBox="1"/>
          <p:nvPr/>
        </p:nvSpPr>
        <p:spPr>
          <a:xfrm>
            <a:off x="8220456" y="3657600"/>
            <a:ext cx="34747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THE KITCHEN TABLE</a:t>
            </a:r>
            <a:endParaRPr lang="en-US" sz="700" dirty="0"/>
          </a:p>
        </p:txBody>
      </p:sp>
      <p:sp>
        <p:nvSpPr>
          <p:cNvPr id="17" name="Shape 15"/>
          <p:cNvSpPr/>
          <p:nvPr/>
        </p:nvSpPr>
        <p:spPr>
          <a:xfrm>
            <a:off x="4364431" y="3575304"/>
            <a:ext cx="3474720" cy="1828800"/>
          </a:xfrm>
          <a:prstGeom prst="roundRect">
            <a:avLst>
              <a:gd name="adj" fmla="val 4500"/>
            </a:avLst>
          </a:prstGeom>
          <a:solidFill>
            <a:srgbClr val="EDEAE3"/>
          </a:solidFill>
          <a:ln w="9525">
            <a:solidFill>
              <a:srgbClr val="D8D2C4"/>
            </a:solidFill>
            <a:prstDash val="solid"/>
          </a:ln>
        </p:spPr>
      </p:sp>
      <p:sp>
        <p:nvSpPr>
          <p:cNvPr id="18" name="Text 16"/>
          <p:cNvSpPr txBox="1"/>
          <p:nvPr/>
        </p:nvSpPr>
        <p:spPr>
          <a:xfrm>
            <a:off x="4364431" y="4343400"/>
            <a:ext cx="34747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THE PLAN, ONE PAGE</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0F10"/>
          </a:solidFill>
          <a:ln/>
        </p:spPr>
      </p:sp>
      <p:pic>
        <p:nvPicPr>
          <p:cNvPr id="3" name="Image 0" descr="/private/tmp/claude-501/-Users-martyspicer-Alfred-Pennyworth/0034c3d3-651d-4bed-a452-888191aa8c47/scratchpad/mark-full-bone.png">    </p:cNvPr>
          <p:cNvPicPr>
            <a:picLocks noChangeAspect="1"/>
          </p:cNvPicPr>
          <p:nvPr/>
        </p:nvPicPr>
        <p:blipFill>
          <a:blip r:embed="rId1"/>
          <a:stretch>
            <a:fillRect/>
          </a:stretch>
        </p:blipFill>
        <p:spPr>
          <a:xfrm>
            <a:off x="508406" y="1234440"/>
            <a:ext cx="914400" cy="914400"/>
          </a:xfrm>
          <a:prstGeom prst="rect">
            <a:avLst/>
          </a:prstGeom>
        </p:spPr>
      </p:pic>
      <p:sp>
        <p:nvSpPr>
          <p:cNvPr id="4" name="Text 1"/>
          <p:cNvSpPr txBox="1"/>
          <p:nvPr/>
        </p:nvSpPr>
        <p:spPr>
          <a:xfrm>
            <a:off x="508406" y="2788920"/>
            <a:ext cx="8595360" cy="1920240"/>
          </a:xfrm>
          <a:prstGeom prst="rect">
            <a:avLst/>
          </a:prstGeom>
          <a:noFill/>
          <a:ln/>
        </p:spPr>
        <p:txBody>
          <a:bodyPr wrap="square" lIns="0" tIns="0" rIns="0" bIns="0" rtlCol="0" anchor="t"/>
          <a:lstStyle/>
          <a:p>
            <a:pPr indent="0" marL="0">
              <a:lnSpc>
                <a:spcPct val="120000"/>
              </a:lnSpc>
              <a:buNone/>
            </a:pPr>
            <a:r>
              <a:rPr lang="en-US" sz="4600" dirty="0">
                <a:solidFill>
                  <a:srgbClr val="EAE0C8"/>
                </a:solidFill>
                <a:latin typeface="Bookmania" pitchFamily="34" charset="0"/>
                <a:ea typeface="Bookmania" pitchFamily="34" charset="-122"/>
                <a:cs typeface="Bookmania" pitchFamily="34" charset="-120"/>
              </a:rPr>
              <a:t>We bring the city</a:t>
            </a:r>
            <a:endParaRPr lang="en-US" sz="4600" dirty="0"/>
          </a:p>
          <a:p>
            <a:pPr indent="0" marL="0">
              <a:lnSpc>
                <a:spcPct val="120000"/>
              </a:lnSpc>
              <a:buNone/>
            </a:pPr>
            <a:r>
              <a:rPr lang="en-US" sz="4600" dirty="0">
                <a:solidFill>
                  <a:srgbClr val="EAE0C8"/>
                </a:solidFill>
                <a:latin typeface="Bookmania" pitchFamily="34" charset="0"/>
                <a:ea typeface="Bookmania" pitchFamily="34" charset="-122"/>
                <a:cs typeface="Bookmania" pitchFamily="34" charset="-120"/>
              </a:rPr>
              <a:t>to your door.</a:t>
            </a:r>
            <a:endParaRPr lang="en-US" sz="4600" dirty="0"/>
          </a:p>
        </p:txBody>
      </p:sp>
      <p:sp>
        <p:nvSpPr>
          <p:cNvPr id="5" name="Shape 2"/>
          <p:cNvSpPr/>
          <p:nvPr/>
        </p:nvSpPr>
        <p:spPr>
          <a:xfrm>
            <a:off x="508406" y="5029200"/>
            <a:ext cx="2926080" cy="0"/>
          </a:xfrm>
          <a:prstGeom prst="line">
            <a:avLst/>
          </a:prstGeom>
          <a:noFill/>
          <a:ln w="9525">
            <a:solidFill>
              <a:srgbClr val="3A362F"/>
            </a:solidFill>
            <a:prstDash val="solid"/>
          </a:ln>
        </p:spPr>
      </p:sp>
      <p:sp>
        <p:nvSpPr>
          <p:cNvPr id="6" name="Text 3"/>
          <p:cNvSpPr txBox="1"/>
          <p:nvPr/>
        </p:nvSpPr>
        <p:spPr>
          <a:xfrm>
            <a:off x="508406" y="5266944"/>
            <a:ext cx="9144000" cy="274320"/>
          </a:xfrm>
          <a:prstGeom prst="rect">
            <a:avLst/>
          </a:prstGeom>
          <a:noFill/>
          <a:ln/>
        </p:spPr>
        <p:txBody>
          <a:bodyPr wrap="square" lIns="0" tIns="0" rIns="0" bIns="0" rtlCol="0" anchor="t"/>
          <a:lstStyle/>
          <a:p>
            <a:pPr indent="0" marL="0">
              <a:buNone/>
            </a:pPr>
            <a:r>
              <a:rPr lang="en-US" sz="1000" dirty="0">
                <a:solidFill>
                  <a:srgbClr val="9A9284"/>
                </a:solidFill>
                <a:latin typeface="Manrope" pitchFamily="34" charset="0"/>
                <a:ea typeface="Manrope" pitchFamily="34" charset="-122"/>
                <a:cs typeface="Manrope" pitchFamily="34" charset="-120"/>
              </a:rPr>
              <a:t>Five Points Digital Studio  ·  Decatur, Georgia  ·  fivepoints.studio  ·  hello@fivepoints.studio</a:t>
            </a:r>
            <a:endParaRPr lang="en-US" sz="1000" dirty="0"/>
          </a:p>
        </p:txBody>
      </p:sp>
      <p:sp>
        <p:nvSpPr>
          <p:cNvPr id="7" name="Text 4"/>
          <p:cNvSpPr txBox="1"/>
          <p:nvPr/>
        </p:nvSpPr>
        <p:spPr>
          <a:xfrm>
            <a:off x="508406" y="5632704"/>
            <a:ext cx="5486400" cy="201168"/>
          </a:xfrm>
          <a:prstGeom prst="rect">
            <a:avLst/>
          </a:prstGeom>
          <a:noFill/>
          <a:ln/>
        </p:spPr>
        <p:txBody>
          <a:bodyPr wrap="square" lIns="0" tIns="0" rIns="0" bIns="0" rtlCol="0" anchor="t"/>
          <a:lstStyle/>
          <a:p>
            <a:pPr indent="0" marL="0">
              <a:buNone/>
            </a:pPr>
            <a:r>
              <a:rPr lang="en-US" sz="900" spc="180" kern="0" dirty="0">
                <a:solidFill>
                  <a:srgbClr val="5E574C"/>
                </a:solidFill>
                <a:latin typeface="Manrope" pitchFamily="34" charset="0"/>
                <a:ea typeface="Manrope" pitchFamily="34" charset="-122"/>
                <a:cs typeface="Manrope" pitchFamily="34" charset="-120"/>
              </a:rPr>
              <a:t>CAPABILITIES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Five Points Digital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Five Points Digital Studio — Capabilities</dc:title>
  <dc:subject>PptxGenJS Presentation</dc:subject>
  <dc:creator>Five Points Digital Studio</dc:creator>
  <cp:lastModifiedBy>Five Points Digital Studio</cp:lastModifiedBy>
  <cp:revision>1</cp:revision>
  <dcterms:created xsi:type="dcterms:W3CDTF">2026-09-08T03:03:33Z</dcterms:created>
  <dcterms:modified xsi:type="dcterms:W3CDTF">2026-09-08T03:03:33Z</dcterms:modified>
</cp:coreProperties>
</file>